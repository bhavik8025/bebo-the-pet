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193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097280"/>
            <a:ext cx="5943600" cy="5943600"/>
          </a:xfrm>
          <a:prstGeom prst="ellipse">
            <a:avLst/>
          </a:prstGeom>
          <a:solidFill>
            <a:srgbClr val="7C5CFC">
              <a:alpha val="13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0" y="-457200"/>
            <a:ext cx="4114800" cy="411480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-2131359" y="3383280"/>
            <a:ext cx="4114800" cy="4114800"/>
          </a:xfrm>
          <a:prstGeom prst="ellipse">
            <a:avLst/>
          </a:prstGeom>
          <a:solidFill>
            <a:srgbClr val="7C5CFC">
              <a:alpha val="7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Shape 3"/>
          <p:cNvSpPr/>
          <p:nvPr/>
        </p:nvSpPr>
        <p:spPr>
          <a:xfrm>
            <a:off x="347472" y="1280160"/>
            <a:ext cx="64008" cy="210312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 the PET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3326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Desktop Companion: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On, Always Ready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Bhavik Thakkar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 Bahadur Shastri Institute of Management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4884241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 GPT-OSS 120B  ×  Groq  ×  Electron</a:t>
            </a:r>
            <a:endParaRPr lang="en-US" sz="1000" dirty="0"/>
          </a:p>
        </p:txBody>
      </p:sp>
      <p:pic>
        <p:nvPicPr>
          <p:cNvPr id="11" name="Image 0" descr="C:\Users\admin\OneDrive - Lal Bahadur Shastri Institute of Management\Documents\BEBO the PET\docs\screenshots\bebo-panel-open.png"/>
          <p:cNvPicPr>
            <a:picLocks noChangeAspect="1"/>
          </p:cNvPicPr>
          <p:nvPr/>
        </p:nvPicPr>
        <p:blipFill>
          <a:blip r:embed="rId3"/>
          <a:srcRect l="34341"/>
          <a:stretch>
            <a:fillRect/>
          </a:stretch>
        </p:blipFill>
        <p:spPr>
          <a:xfrm>
            <a:off x="5338482" y="193369"/>
            <a:ext cx="37167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Lose Hours Switching Context Every 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59536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859536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4069080" cy="150876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12064" y="1207008"/>
            <a:ext cx="457200" cy="457200"/>
          </a:xfrm>
          <a:prstGeom prst="ellipse">
            <a:avLst/>
          </a:prstGeom>
          <a:solidFill>
            <a:srgbClr val="7C5CFC">
              <a:alpha val="72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12064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Switching Kills Focus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554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context switching destroys deep work and flow state every single 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069080" cy="150876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36592" y="1207008"/>
            <a:ext cx="457200" cy="457200"/>
          </a:xfrm>
          <a:prstGeom prst="ellipse">
            <a:avLst/>
          </a:prstGeom>
          <a:solidFill>
            <a:srgbClr val="7C5CFC">
              <a:alpha val="72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736592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AI Takes Too Long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554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ChatGPT or a browser tab creates 30+ seconds of friction every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651760"/>
            <a:ext cx="4069080" cy="150876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12064" y="2852928"/>
            <a:ext cx="457200" cy="457200"/>
          </a:xfrm>
          <a:prstGeom prst="ellipse">
            <a:avLst/>
          </a:prstGeom>
          <a:solidFill>
            <a:srgbClr val="7C5CFC">
              <a:alpha val="72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12064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28163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Tasks Eat Your Day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200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Summarizing, emailing, fixing grammar — done manually, repeatedly, all day long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651760"/>
            <a:ext cx="4069080" cy="150876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736592" y="2852928"/>
            <a:ext cx="457200" cy="457200"/>
          </a:xfrm>
          <a:prstGeom prst="ellipse">
            <a:avLst/>
          </a:prstGeom>
          <a:solidFill>
            <a:srgbClr val="7C5CFC">
              <a:alpha val="72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736592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28163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Lives on Your Desktop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200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AI that stays permanently visible and ready without a window switch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4370832"/>
            <a:ext cx="8449056" cy="512064"/>
          </a:xfrm>
          <a:prstGeom prst="rect">
            <a:avLst/>
          </a:prstGeom>
          <a:solidFill>
            <a:srgbClr val="7C5CFC">
              <a:alpha val="22000"/>
            </a:srgbClr>
          </a:solidFill>
          <a:ln w="6350">
            <a:solidFill>
              <a:srgbClr val="7C5CFC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47472" y="4370832"/>
            <a:ext cx="8449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your AI was always one click away — right on your desktop?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BEBO — Your Desktop AI Pet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841248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animated robot that lives on your Windows desktop.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visible. Always on top. Click once — get AI superpowers.</a:t>
            </a:r>
            <a:endParaRPr lang="en-US" sz="1500" dirty="0"/>
          </a:p>
        </p:txBody>
      </p:sp>
      <p:pic>
        <p:nvPicPr>
          <p:cNvPr id="6" name="Image 0" descr="C:\Users\admin\OneDrive - Lal Bahadur Shastri Institute of Management\Documents\BEBO the PET\docs\screenshots\bebo-pet-on-desktop.png"/>
          <p:cNvPicPr>
            <a:picLocks noChangeAspect="1"/>
          </p:cNvPicPr>
          <p:nvPr/>
        </p:nvPicPr>
        <p:blipFill>
          <a:blip r:embed="rId3"/>
          <a:srcRect l="46305"/>
          <a:stretch>
            <a:fillRect/>
          </a:stretch>
        </p:blipFill>
        <p:spPr>
          <a:xfrm>
            <a:off x="6071616" y="868680"/>
            <a:ext cx="2752343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2103120"/>
            <a:ext cx="1783080" cy="141732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1024128" y="2231136"/>
            <a:ext cx="457200" cy="457200"/>
          </a:xfrm>
          <a:prstGeom prst="ellipse">
            <a:avLst/>
          </a:prstGeom>
          <a:solidFill>
            <a:srgbClr val="7C5CFC">
              <a:alpha val="78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02412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🐾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2788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desktop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67712" y="2103120"/>
            <a:ext cx="1783080" cy="141732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926080" y="2231136"/>
            <a:ext cx="457200" cy="457200"/>
          </a:xfrm>
          <a:prstGeom prst="ellipse">
            <a:avLst/>
          </a:prstGeom>
          <a:solidFill>
            <a:srgbClr val="7C5CFC">
              <a:alpha val="78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92608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359152" y="2788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AI panel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69664" y="2103120"/>
            <a:ext cx="1783080" cy="141732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828032" y="2231136"/>
            <a:ext cx="457200" cy="457200"/>
          </a:xfrm>
          <a:prstGeom prst="ellipse">
            <a:avLst/>
          </a:prstGeom>
          <a:solidFill>
            <a:srgbClr val="7C5CFC">
              <a:alpha val="78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828032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261104" y="2788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120B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47472" y="4498848"/>
            <a:ext cx="8449056" cy="402336"/>
          </a:xfrm>
          <a:prstGeom prst="rect">
            <a:avLst/>
          </a:prstGeom>
          <a:solidFill>
            <a:srgbClr val="1C1D32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47472" y="4498848"/>
            <a:ext cx="8449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Top  •  Draggable  •  Animated States  •  Zero Browser  •  Free to Run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BEBO Works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85800" y="1719072"/>
            <a:ext cx="7909560" cy="45720"/>
          </a:xfrm>
          <a:prstGeom prst="rect">
            <a:avLst/>
          </a:prstGeom>
          <a:solidFill>
            <a:srgbClr val="7C5CFC">
              <a:alpha val="68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49808" y="1499616"/>
            <a:ext cx="457200" cy="457200"/>
          </a:xfrm>
          <a:prstGeom prst="ellipse">
            <a:avLst/>
          </a:prstGeom>
          <a:solidFill>
            <a:srgbClr val="7C5CFC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49808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 sits 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desktop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29968" y="157276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C"/>
                </a:solidFill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24328" y="1499616"/>
            <a:ext cx="457200" cy="457200"/>
          </a:xfrm>
          <a:prstGeom prst="ellipse">
            <a:avLst/>
          </a:prstGeom>
          <a:solidFill>
            <a:srgbClr val="7C5CFC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624328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👆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70632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2084832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click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04488" y="157276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C"/>
                </a:solidFill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498848" y="1499616"/>
            <a:ext cx="457200" cy="457200"/>
          </a:xfrm>
          <a:prstGeom prst="ellipse">
            <a:avLst/>
          </a:prstGeom>
          <a:solidFill>
            <a:srgbClr val="7C5CFC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498848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45152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60520" y="2084832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opens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BEBO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79008" y="157276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C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73368" y="1499616"/>
            <a:ext cx="457200" cy="457200"/>
          </a:xfrm>
          <a:prstGeom prst="ellipse">
            <a:avLst/>
          </a:prstGeom>
          <a:solidFill>
            <a:srgbClr val="7C5CFC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373368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19672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35040" y="2084832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text,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action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53528" y="157276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C"/>
                </a:solidFill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47888" y="1499616"/>
            <a:ext cx="457200" cy="457200"/>
          </a:xfrm>
          <a:prstGeom prst="ellipse">
            <a:avLst/>
          </a:prstGeom>
          <a:solidFill>
            <a:srgbClr val="7C5CFC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247888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394192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09560" y="2084832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result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seconds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463040" y="3383280"/>
            <a:ext cx="6217920" cy="530352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5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463040" y="338328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browser.   No tab switching.   No loading screens.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Powerful AI Functions — All Free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777240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47472" y="932688"/>
            <a:ext cx="2651760" cy="1298448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54864" cy="129844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1832" y="104241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any article, report, or email into key points instantly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36976" y="932688"/>
            <a:ext cx="2651760" cy="1298448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236976" y="932688"/>
            <a:ext cx="54864" cy="129844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346704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31336" y="104241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Humanize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46704" y="1463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robotic AI text into warm, genuine human writing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932688"/>
            <a:ext cx="2651760" cy="1298448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126480" y="932688"/>
            <a:ext cx="54864" cy="129844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236208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20840" y="104241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1463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complex legal, technical, or academic text instantly clear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2450592"/>
            <a:ext cx="2651760" cy="1298448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47472" y="2450592"/>
            <a:ext cx="54864" cy="129844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5720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41832" y="25603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Email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98094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professional ready-to-send emails from rough notes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36976" y="2450592"/>
            <a:ext cx="2651760" cy="1298448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236976" y="2450592"/>
            <a:ext cx="54864" cy="129844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346704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31336" y="25603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Grammar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46704" y="298094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all errors silently — preserves your exact voice and style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450592"/>
            <a:ext cx="2651760" cy="1298448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126480" y="2450592"/>
            <a:ext cx="54864" cy="129844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236208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20840" y="25603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6208" y="298094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prompt — ask anything, get expert-level answers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" y="4773168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powered by GPT-OSS 120B  •  1,000 free requests/day via Groq  •  No credit card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Modern, Lightweight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47472" y="932688"/>
            <a:ext cx="2651760" cy="1298448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2651760" cy="6400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84632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v29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49961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Windows desktop app framework — web tech as a real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36976" y="932688"/>
            <a:ext cx="2651760" cy="1298448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36976" y="932688"/>
            <a:ext cx="2651760" cy="64008"/>
          </a:xfrm>
          <a:prstGeom prst="rect">
            <a:avLst/>
          </a:prstGeom>
          <a:solidFill>
            <a:srgbClr val="7C5CFC">
              <a:alpha val="70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374136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74136" y="149961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 runtime — IPC, AI calls, window management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932688"/>
            <a:ext cx="2651760" cy="1298448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126480" y="932688"/>
            <a:ext cx="2651760" cy="6400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63640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49961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AI inference — free tier, ~1s response 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2450592"/>
            <a:ext cx="2651760" cy="1298448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47472" y="2450592"/>
            <a:ext cx="2651760" cy="64008"/>
          </a:xfrm>
          <a:prstGeom prst="rect">
            <a:avLst/>
          </a:prstGeom>
          <a:solidFill>
            <a:srgbClr val="7C5CFC">
              <a:alpha val="70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4632" y="2587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120B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open-weight large language 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36976" y="2450592"/>
            <a:ext cx="2651760" cy="1298448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236976" y="2450592"/>
            <a:ext cx="2651760" cy="6400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374136" y="2587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74136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— pet animations, panel UI, dark theme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450592"/>
            <a:ext cx="2651760" cy="1298448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126480" y="2450592"/>
            <a:ext cx="2651760" cy="64008"/>
          </a:xfrm>
          <a:prstGeom prst="rect">
            <a:avLst/>
          </a:prstGeom>
          <a:solidFill>
            <a:srgbClr val="7C5CFC">
              <a:alpha val="70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263640" y="2587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key management — keys never touch the code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4663440"/>
            <a:ext cx="8449056" cy="347472"/>
          </a:xfrm>
          <a:prstGeom prst="rect">
            <a:avLst/>
          </a:prstGeom>
          <a:solidFill>
            <a:srgbClr val="7C5CFC">
              <a:alpha val="22000"/>
            </a:srgbClr>
          </a:solidFill>
          <a:ln w="6350">
            <a:solidFill>
              <a:srgbClr val="7C5CFC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47472" y="466344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to run  •  No subscription  •  No cloud storage  •  Stateless by design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Dual-Window Electron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3429000" cy="361188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92608" y="987552"/>
            <a:ext cx="3429000" cy="402336"/>
          </a:xfrm>
          <a:prstGeom prst="rect">
            <a:avLst/>
          </a:prstGeom>
          <a:solidFill>
            <a:srgbClr val="7C5CFC">
              <a:alpha val="82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92608" y="98755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 — Node.js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108960" cy="347472"/>
          </a:xfrm>
          <a:prstGeom prst="rect">
            <a:avLst/>
          </a:prstGeom>
          <a:solidFill>
            <a:srgbClr val="1E2040"/>
          </a:solidFill>
          <a:ln w="3810">
            <a:solidFill>
              <a:srgbClr val="7C5CFC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66928" y="1508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index.js — Entry Point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108960" cy="347472"/>
          </a:xfrm>
          <a:prstGeom prst="rect">
            <a:avLst/>
          </a:prstGeom>
          <a:solidFill>
            <a:srgbClr val="1E2040"/>
          </a:solidFill>
          <a:ln w="3810">
            <a:solidFill>
              <a:srgbClr val="7C5CFC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66928" y="1965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windows.js — Window Manager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3108960" cy="347472"/>
          </a:xfrm>
          <a:prstGeom prst="rect">
            <a:avLst/>
          </a:prstGeom>
          <a:solidFill>
            <a:srgbClr val="1E2040"/>
          </a:solidFill>
          <a:ln w="3810">
            <a:solidFill>
              <a:srgbClr val="7C5CFC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66928" y="2423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ipc-router.js — Event Router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3108960" cy="347472"/>
          </a:xfrm>
          <a:prstGeom prst="rect">
            <a:avLst/>
          </a:prstGeom>
          <a:solidFill>
            <a:srgbClr val="1E2040"/>
          </a:solidFill>
          <a:ln w="3810">
            <a:solidFill>
              <a:srgbClr val="7C5CFC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66928" y="2880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ai-service.js — Groq + Prompts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108960" cy="347472"/>
          </a:xfrm>
          <a:prstGeom prst="rect">
            <a:avLst/>
          </a:prstGeom>
          <a:solidFill>
            <a:srgbClr val="1E2040"/>
          </a:solidFill>
          <a:ln w="3810">
            <a:solidFill>
              <a:srgbClr val="7C5CFC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66928" y="3337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shortcuts.js — Global Hotkeys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3108960" cy="347472"/>
          </a:xfrm>
          <a:prstGeom prst="rect">
            <a:avLst/>
          </a:prstGeom>
          <a:solidFill>
            <a:srgbClr val="1E2040"/>
          </a:solidFill>
          <a:ln w="3810">
            <a:solidFill>
              <a:srgbClr val="7C5CFC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66928" y="3794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tray.js — System Tray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58768" y="1874520"/>
            <a:ext cx="1426464" cy="1874520"/>
          </a:xfrm>
          <a:prstGeom prst="rect">
            <a:avLst/>
          </a:prstGeom>
          <a:solidFill>
            <a:srgbClr val="7C5CFC">
              <a:alpha val="32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858768" y="1874520"/>
            <a:ext cx="14264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11880" y="26517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C5CFC"/>
                </a:solidFill>
              </a:rPr>
              <a:t>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93792" y="26517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C5CFC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22392" y="987552"/>
            <a:ext cx="3429000" cy="361188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22392" y="987552"/>
            <a:ext cx="3429000" cy="402336"/>
          </a:xfrm>
          <a:prstGeom prst="rect">
            <a:avLst/>
          </a:prstGeom>
          <a:solidFill>
            <a:srgbClr val="5A3DD8">
              <a:alpha val="82000"/>
            </a:srgbClr>
          </a:solidFill>
          <a:ln w="12700">
            <a:solidFill>
              <a:srgbClr val="5A3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422392" y="98755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Process — Browser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77840" y="1508760"/>
            <a:ext cx="3108960" cy="347472"/>
          </a:xfrm>
          <a:prstGeom prst="rect">
            <a:avLst/>
          </a:prstGeom>
          <a:solidFill>
            <a:srgbClr val="1E2040"/>
          </a:solidFill>
          <a:ln w="3810">
            <a:solidFill>
              <a:srgbClr val="A78BFA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687568" y="1508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pet/index.html — Pet Markup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1965960"/>
            <a:ext cx="3108960" cy="347472"/>
          </a:xfrm>
          <a:prstGeom prst="rect">
            <a:avLst/>
          </a:prstGeom>
          <a:solidFill>
            <a:srgbClr val="1E2040"/>
          </a:solidFill>
          <a:ln w="3810">
            <a:solidFill>
              <a:srgbClr val="A78BFA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687568" y="1965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pet/pet.css — Animations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77840" y="2423160"/>
            <a:ext cx="3108960" cy="347472"/>
          </a:xfrm>
          <a:prstGeom prst="rect">
            <a:avLst/>
          </a:prstGeom>
          <a:solidFill>
            <a:srgbClr val="1E2040"/>
          </a:solidFill>
          <a:ln w="3810">
            <a:solidFill>
              <a:srgbClr val="A78BFA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687568" y="2423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pet/pet.js — State Machine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2880360"/>
            <a:ext cx="3108960" cy="347472"/>
          </a:xfrm>
          <a:prstGeom prst="rect">
            <a:avLst/>
          </a:prstGeom>
          <a:solidFill>
            <a:srgbClr val="1E2040"/>
          </a:solidFill>
          <a:ln w="3810">
            <a:solidFill>
              <a:srgbClr val="A78BFA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687568" y="2880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panel/index.html — Panel UI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3337560"/>
            <a:ext cx="3108960" cy="347472"/>
          </a:xfrm>
          <a:prstGeom prst="rect">
            <a:avLst/>
          </a:prstGeom>
          <a:solidFill>
            <a:srgbClr val="1E2040"/>
          </a:solidFill>
          <a:ln w="3810">
            <a:solidFill>
              <a:srgbClr val="A78BFA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687568" y="3337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panel/panel.css — Dark Theme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3794760"/>
            <a:ext cx="3108960" cy="347472"/>
          </a:xfrm>
          <a:prstGeom prst="rect">
            <a:avLst/>
          </a:prstGeom>
          <a:solidFill>
            <a:srgbClr val="1E2040"/>
          </a:solidFill>
          <a:ln w="3810">
            <a:solidFill>
              <a:srgbClr val="A78BFA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5687568" y="3794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panel/panel.js — AI Handler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" y="4773168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contextIsolation: true  •  nodeIntegration: false  •  Secure preload IPC bridges on both windows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Expert-Grade Prompt Engineering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914400" cy="71323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92608" y="987552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61872" y="987552"/>
            <a:ext cx="3840480" cy="713232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53312" y="98755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expert framing — tells the model exactly who it 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1883664"/>
            <a:ext cx="914400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92608" y="1883664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61872" y="1883664"/>
            <a:ext cx="3840480" cy="713232"/>
          </a:xfrm>
          <a:prstGeom prst="rect">
            <a:avLst/>
          </a:prstGeom>
          <a:solidFill>
            <a:srgbClr val="1C1D32"/>
          </a:solidFill>
          <a:ln w="6350">
            <a:solidFill>
              <a:srgbClr val="6366F1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353312" y="188366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precisely what the task must accomplish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" y="2779776"/>
            <a:ext cx="91440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92608" y="2779776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61872" y="2779776"/>
            <a:ext cx="3840480" cy="713232"/>
          </a:xfrm>
          <a:prstGeom prst="rect">
            <a:avLst/>
          </a:prstGeom>
          <a:solidFill>
            <a:srgbClr val="1C1D32"/>
          </a:solidFill>
          <a:ln w="6350">
            <a:solidFill>
              <a:srgbClr val="3B82F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53312" y="277977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user's situation and what they need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" y="3675888"/>
            <a:ext cx="91440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92608" y="3675888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61872" y="3675888"/>
            <a:ext cx="3840480" cy="713232"/>
          </a:xfrm>
          <a:prstGeom prst="rect">
            <a:avLst/>
          </a:prstGeom>
          <a:solidFill>
            <a:srgbClr val="1C1D32"/>
          </a:solidFill>
          <a:ln w="6350">
            <a:solidFill>
              <a:srgbClr val="0EA5E9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353312" y="36758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rules: format, tone, length, what to avoid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21808" y="896112"/>
            <a:ext cx="3511296" cy="365760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321808" y="896112"/>
            <a:ext cx="3511296" cy="402336"/>
          </a:xfrm>
          <a:prstGeom prst="rect">
            <a:avLst/>
          </a:prstGeom>
          <a:solidFill>
            <a:srgbClr val="7C5CFC">
              <a:alpha val="82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321808" y="89611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Tuning — Per Task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68112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Grammar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76288" y="14173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71232" y="1417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68112" y="1810512"/>
            <a:ext cx="3246120" cy="18288"/>
          </a:xfrm>
          <a:prstGeom prst="rect">
            <a:avLst/>
          </a:prstGeom>
          <a:solidFill>
            <a:srgbClr val="94A3B8">
              <a:alpha val="26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468112" y="1920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76288" y="192024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71232" y="19202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68112" y="2313432"/>
            <a:ext cx="3246120" cy="18288"/>
          </a:xfrm>
          <a:prstGeom prst="rect">
            <a:avLst/>
          </a:prstGeom>
          <a:solidFill>
            <a:srgbClr val="94A3B8">
              <a:alpha val="26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468112" y="2423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Email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6288" y="24231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71232" y="2423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68112" y="2816352"/>
            <a:ext cx="3246120" cy="18288"/>
          </a:xfrm>
          <a:prstGeom prst="rect">
            <a:avLst/>
          </a:prstGeom>
          <a:solidFill>
            <a:srgbClr val="94A3B8">
              <a:alpha val="26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468112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76288" y="29260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71232" y="29260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68112" y="3319272"/>
            <a:ext cx="3246120" cy="18288"/>
          </a:xfrm>
          <a:prstGeom prst="rect">
            <a:avLst/>
          </a:prstGeom>
          <a:solidFill>
            <a:srgbClr val="94A3B8">
              <a:alpha val="26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5468112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76288" y="34290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71232" y="34290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68112" y="3822192"/>
            <a:ext cx="3246120" cy="18288"/>
          </a:xfrm>
          <a:prstGeom prst="rect">
            <a:avLst/>
          </a:prstGeom>
          <a:solidFill>
            <a:srgbClr val="94A3B8">
              <a:alpha val="26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5468112" y="3931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Humanize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76288" y="39319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571232" y="39319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7472" y="4773168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passes through stripMarkdown() — guaranteed clean plain text, always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Groq + GPT-OSS 120B?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420624"/>
          </a:xfrm>
          <a:prstGeom prst="rect">
            <a:avLst/>
          </a:prstGeom>
          <a:solidFill>
            <a:srgbClr val="7C5CFC">
              <a:alpha val="88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98755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9875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Free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23560" y="98755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GPT-OSS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08176"/>
            <a:ext cx="8229600" cy="475488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94360" y="140817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Requests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4081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day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140817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/ day 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83664"/>
            <a:ext cx="8229600" cy="475488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94360" y="188366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Speed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188366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188366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Fast (~1s) 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8229600" cy="475488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94360" y="23591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35915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235915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8229600" cy="475488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94360" y="28346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Required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28346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23560" y="28346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✅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8229600" cy="475488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94360" y="33101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331012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23560" y="331012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equivalent ✅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785616"/>
            <a:ext cx="8229600" cy="475488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94360" y="378561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0" y="37856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regions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37856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✅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solidFill>
            <a:srgbClr val="7C5CFC">
              <a:alpha val="22000"/>
            </a:srgbClr>
          </a:solidFill>
          <a:ln w="6350">
            <a:solidFill>
              <a:srgbClr val="7C5CFC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free requests/day = ~40 AI tasks per hour, all day, every day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 with AI-Assisted Development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804672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7909560" cy="45720"/>
          </a:xfrm>
          <a:prstGeom prst="rect">
            <a:avLst/>
          </a:prstGeom>
          <a:solidFill>
            <a:srgbClr val="7C5CFC">
              <a:alpha val="68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93776" y="1426464"/>
            <a:ext cx="438912" cy="438912"/>
          </a:xfrm>
          <a:prstGeom prst="ellipse">
            <a:avLst/>
          </a:prstGeom>
          <a:solidFill>
            <a:srgbClr val="7C5CFC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93776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95681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0896" y="239572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688336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AI pet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visible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95559" y="1426464"/>
            <a:ext cx="438912" cy="438912"/>
          </a:xfrm>
          <a:prstGeom prst="ellipse">
            <a:avLst/>
          </a:prstGeom>
          <a:solidFill>
            <a:srgbClr val="7C5CFC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695559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85831" y="195681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12679" y="239572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76103" y="2688336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Dual-window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design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97342" y="1426464"/>
            <a:ext cx="438912" cy="438912"/>
          </a:xfrm>
          <a:prstGeom prst="ellipse">
            <a:avLst/>
          </a:prstGeom>
          <a:solidFill>
            <a:srgbClr val="7C5CFC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897342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7614" y="195681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🐾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714462" y="239572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Window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77886" y="2688336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state machine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99125" y="1426464"/>
            <a:ext cx="438912" cy="438912"/>
          </a:xfrm>
          <a:prstGeom prst="ellipse">
            <a:avLst/>
          </a:prstGeom>
          <a:solidFill>
            <a:srgbClr val="7C5CFC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099125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89397" y="195681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916245" y="239572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UI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79669" y="2688336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wiring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0907" y="1426464"/>
            <a:ext cx="438912" cy="438912"/>
          </a:xfrm>
          <a:prstGeom prst="ellipse">
            <a:avLst/>
          </a:prstGeom>
          <a:solidFill>
            <a:srgbClr val="7C5CFC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300907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91179" y="195681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18027" y="239572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81451" y="2688336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Groq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02690" y="1426464"/>
            <a:ext cx="438912" cy="438912"/>
          </a:xfrm>
          <a:prstGeom prst="ellipse">
            <a:avLst/>
          </a:prstGeom>
          <a:solidFill>
            <a:srgbClr val="7C5CFC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502690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92962" y="195681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19810" y="239572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83234" y="2688336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ROLE/OBJ/CTX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04473" y="1426464"/>
            <a:ext cx="438912" cy="438912"/>
          </a:xfrm>
          <a:prstGeom prst="ellipse">
            <a:avLst/>
          </a:prstGeom>
          <a:solidFill>
            <a:srgbClr val="7C5CFC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7704473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94745" y="195681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21593" y="239572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Polish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85017" y="2688336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Toggle, resize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drag, position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31272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91640" y="3108960"/>
            <a:ext cx="1115568" cy="329184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1691640" y="310896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26080" y="3108960"/>
            <a:ext cx="1115568" cy="329184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2926080" y="310896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60520" y="3108960"/>
            <a:ext cx="1115568" cy="329184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4160520" y="310896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94960" y="3108960"/>
            <a:ext cx="1115568" cy="329184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5394960" y="310896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29400" y="3108960"/>
            <a:ext cx="1115568" cy="329184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6629400" y="310896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863840" y="3108960"/>
            <a:ext cx="1115568" cy="329184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7863840" y="310896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7472" y="3611880"/>
            <a:ext cx="8449056" cy="987552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5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347472" y="3611880"/>
            <a:ext cx="64008" cy="98755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530352" y="3611880"/>
            <a:ext cx="8183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entirely solo using AI-assisted development — Claude handled architecture, debugging, and prompt engineering in real time."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 in Action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2651760" cy="324612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292608" y="431596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screen corner • Animated • Drag anywhere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45536" y="987552"/>
            <a:ext cx="2651760" cy="324612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3145536" y="431596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next to BEBO • Resizable • Clean design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98464" y="987552"/>
            <a:ext cx="2651760" cy="324612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8"/>
          <p:cNvSpPr/>
          <p:nvPr/>
        </p:nvSpPr>
        <p:spPr>
          <a:xfrm>
            <a:off x="5998464" y="431596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output • One-click Copy • Under 2s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47472" y="4800600"/>
            <a:ext cx="8449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opens next to BEBO's position  •  Resizable  •  Editable output  •  One-click Copy</a:t>
            </a:r>
            <a:endParaRPr lang="en-US" sz="1000" dirty="0"/>
          </a:p>
        </p:txBody>
      </p:sp>
      <p:pic>
        <p:nvPicPr>
          <p:cNvPr id="15" name="Picture 14" descr="desktop-pet-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1352840"/>
            <a:ext cx="2560320" cy="2515544"/>
          </a:xfrm>
          <a:prstGeom prst="rect">
            <a:avLst/>
          </a:prstGeom>
        </p:spPr>
      </p:pic>
      <p:pic>
        <p:nvPicPr>
          <p:cNvPr id="16" name="Picture 15" descr="shot2-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8250" y="1033272"/>
            <a:ext cx="1946331" cy="3154679"/>
          </a:xfrm>
          <a:prstGeom prst="rect">
            <a:avLst/>
          </a:prstGeom>
        </p:spPr>
      </p:pic>
      <p:pic>
        <p:nvPicPr>
          <p:cNvPr id="17" name="Picture 16" descr="shot5-ai-resu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178" y="1033272"/>
            <a:ext cx="1946331" cy="31546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Thoughtful UX Details That Matter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4160520" cy="114300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92608" y="987552"/>
            <a:ext cx="54864" cy="114300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20624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552" y="1124712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always opens next to BEBO — follows the pet wherever you drag it on screen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81728" y="987552"/>
            <a:ext cx="4160520" cy="114300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681728" y="987552"/>
            <a:ext cx="54864" cy="114300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09744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76672" y="1124712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resizable panel — but resets to default size every reopen for a clean slate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" y="2304288"/>
            <a:ext cx="4160520" cy="114300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92608" y="2304288"/>
            <a:ext cx="54864" cy="114300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20624" y="2596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87552" y="2441448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editable — modify AI results directly in the output box before copying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81728" y="2304288"/>
            <a:ext cx="4160520" cy="114300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681728" y="2304288"/>
            <a:ext cx="54864" cy="114300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09744" y="2596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76672" y="2441448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BEBO to open, click again to close — a natural, intuitive toggle behavior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" y="3621024"/>
            <a:ext cx="4160520" cy="114300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92608" y="3621024"/>
            <a:ext cx="54864" cy="114300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20624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⌨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87552" y="3758184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Ctrl+Shift+P toggles the panel globally — works from any app, any window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1728" y="3621024"/>
            <a:ext cx="4160520" cy="114300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681728" y="3621024"/>
            <a:ext cx="54864" cy="114300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809744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🫧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76672" y="3758184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bubble shows live AI status — Working... / Done. / Capturing screen...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BEBO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4023360" cy="361188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92608" y="987552"/>
            <a:ext cx="4023360" cy="457200"/>
          </a:xfrm>
          <a:prstGeom prst="rect">
            <a:avLst/>
          </a:prstGeom>
          <a:solidFill>
            <a:srgbClr val="7C5CFC">
              <a:alpha val="85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92608" y="987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 — v0.2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Voice input — Win+H dictation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5856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Dark / light panel themes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9169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Auto-start + update alerts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57530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Custom hotkey per function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98848" y="987552"/>
            <a:ext cx="4352544" cy="361188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498848" y="987552"/>
            <a:ext cx="4352544" cy="457200"/>
          </a:xfrm>
          <a:prstGeom prst="rect">
            <a:avLst/>
          </a:prstGeom>
          <a:solidFill>
            <a:srgbClr val="5A3DD8">
              <a:alpha val="85000"/>
            </a:srgbClr>
          </a:solidFill>
          <a:ln w="12700">
            <a:solidFill>
              <a:srgbClr val="5A3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498848" y="987552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v1.0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81728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Custom AI personas and personalities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81728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Plugin system — add your own functions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1728" y="2697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Voice replies — BEBO talks back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81728" y="3246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macOS 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81728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companion app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2608" y="4709160"/>
            <a:ext cx="8558784" cy="347472"/>
          </a:xfrm>
          <a:prstGeom prst="rect">
            <a:avLst/>
          </a:prstGeom>
          <a:solidFill>
            <a:srgbClr val="7C5CFC">
              <a:alpha val="22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92608" y="4709160"/>
            <a:ext cx="8558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 is modular — every feature is an independent, stackable component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-731520"/>
            <a:ext cx="5120640" cy="5120640"/>
          </a:xfrm>
          <a:prstGeom prst="ellipse">
            <a:avLst/>
          </a:prstGeom>
          <a:solidFill>
            <a:srgbClr val="7C5CFC">
              <a:alpha val="10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0292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14400" y="822960"/>
            <a:ext cx="7863840" cy="36576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92608" y="987552"/>
            <a:ext cx="2743200" cy="224028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92608" y="987552"/>
            <a:ext cx="2743200" cy="54864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02336" y="173736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0-Click Access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" y="21762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always one click from wherever you are on screen — no window switch, no friction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91256" y="987552"/>
            <a:ext cx="2743200" cy="224028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191256" y="987552"/>
            <a:ext cx="2743200" cy="54864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82696" y="1115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🆓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00984" y="173736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Free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00984" y="21762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requests/day, no credit card, no subscription, no data stored anywhere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9904" y="987552"/>
            <a:ext cx="2743200" cy="224028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089904" y="987552"/>
            <a:ext cx="2743200" cy="54864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181344" y="1115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99632" y="173736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by Design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9632" y="21762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is swappable, addable, removable — built to grow with you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" y="3401568"/>
            <a:ext cx="8558784" cy="118872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92608" y="3401568"/>
            <a:ext cx="64008" cy="118872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75488" y="3401568"/>
            <a:ext cx="8275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"BEBO proves that powerful AI doesn't need a browser, a subscription, or a context switch.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just needs to live where you work."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7472" y="475488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ambient AI looks like.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365760"/>
            <a:ext cx="4572000" cy="4572000"/>
          </a:xfrm>
          <a:prstGeom prst="ellipse">
            <a:avLst/>
          </a:prstGeom>
          <a:solidFill>
            <a:srgbClr val="7C5CFC">
              <a:alpha val="13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017520" y="822960"/>
            <a:ext cx="3108960" cy="310896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talk.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1874520"/>
            <a:ext cx="2743200" cy="36576"/>
          </a:xfrm>
          <a:prstGeom prst="rect">
            <a:avLst/>
          </a:prstGeom>
          <a:solidFill>
            <a:srgbClr val="7C5CFC">
              <a:alpha val="78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 the PET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Bhavik Thakkar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136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 Bahadur Shastri Institute of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github.com/bhavik8025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313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bhavikthakkar8025@gmail.com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Electron  •  Groq  •  GPT-OSS 120B  •  Claude AI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7C5CFC">
              <a:alpha val="12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 vs. ChatGPT, Gemini &amp; Claude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on free tiers only — the way students actually use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115568"/>
            <a:ext cx="4160520" cy="3273552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92608" y="1115568"/>
            <a:ext cx="54864" cy="327355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75488" y="1261872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not competitors.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different tools.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1993392"/>
            <a:ext cx="38587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Gemini, and Claude are general-purpose AI platforms — they can do almost anything.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 does 6 things — and does them faster, with zero friction, right on your desktop.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 isn't which AI is smarter. It's which one you'll actually use every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187952" cy="749808"/>
          </a:xfrm>
          <a:prstGeom prst="rect">
            <a:avLst/>
          </a:prstGeom>
          <a:solidFill>
            <a:srgbClr val="1C1D32"/>
          </a:solidFill>
          <a:ln w="5080">
            <a:solidFill>
              <a:srgbClr val="94A3B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09744" y="11795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Free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9744" y="140817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 — Unlimited*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9744" y="166420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*rate limited, browser only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956816"/>
            <a:ext cx="4187952" cy="749808"/>
          </a:xfrm>
          <a:prstGeom prst="rect">
            <a:avLst/>
          </a:prstGeom>
          <a:solidFill>
            <a:srgbClr val="1C1D32"/>
          </a:solidFill>
          <a:ln w="5080">
            <a:solidFill>
              <a:srgbClr val="94A3B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09744" y="20208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Free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224942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~50–100 requests / day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9744" y="250545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limits apply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798064"/>
            <a:ext cx="4187952" cy="749808"/>
          </a:xfrm>
          <a:prstGeom prst="rect">
            <a:avLst/>
          </a:prstGeom>
          <a:solidFill>
            <a:srgbClr val="1C1D32"/>
          </a:solidFill>
          <a:ln w="5080">
            <a:solidFill>
              <a:srgbClr val="94A3B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09744" y="2862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Free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309067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~20–30 messages / day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9744" y="334670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/ Sonnet, browser only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639312"/>
            <a:ext cx="4187952" cy="749808"/>
          </a:xfrm>
          <a:prstGeom prst="rect">
            <a:avLst/>
          </a:prstGeom>
          <a:solidFill>
            <a:srgbClr val="23174A"/>
          </a:solidFill>
          <a:ln w="1905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663440" y="3639312"/>
            <a:ext cx="64008" cy="74980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09744" y="3703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 Free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9744" y="393192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requests / day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9744" y="418795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desktop. No browser.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2608" y="4553712"/>
            <a:ext cx="8558784" cy="475488"/>
          </a:xfrm>
          <a:prstGeom prst="rect">
            <a:avLst/>
          </a:prstGeom>
          <a:solidFill>
            <a:srgbClr val="7C5CFC">
              <a:alpha val="28000"/>
            </a:srgbClr>
          </a:solidFill>
          <a:ln w="6350">
            <a:solidFill>
              <a:srgbClr val="7C5CFC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92608" y="4553712"/>
            <a:ext cx="8558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here is free.  The difference is friction, limits, and where it lives.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Tasks. Honest Scores.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output on free tier  |  Expert prompts vs. casual use  |  BEBO's edge is speed + access, not raw intelligence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92608" y="1078992"/>
            <a:ext cx="2011680" cy="40233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84048" y="10789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04288" y="1078992"/>
            <a:ext cx="1463040" cy="40233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395728" y="10789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67328" y="1078992"/>
            <a:ext cx="1463040" cy="40233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58768" y="10789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30368" y="1078992"/>
            <a:ext cx="1463040" cy="40233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321808" y="10789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93408" y="1078992"/>
            <a:ext cx="1901952" cy="402336"/>
          </a:xfrm>
          <a:prstGeom prst="rect">
            <a:avLst/>
          </a:prstGeom>
          <a:solidFill>
            <a:srgbClr val="5A3DD8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784848" y="107899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" y="1481328"/>
            <a:ext cx="2011680" cy="493776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29768" y="1481328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04288" y="1481328"/>
            <a:ext cx="1463040" cy="493776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304288" y="148132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67328" y="1481328"/>
            <a:ext cx="1463040" cy="493776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767328" y="148132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30368" y="1481328"/>
            <a:ext cx="1463040" cy="493776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230368" y="148132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93408" y="1481328"/>
            <a:ext cx="1901952" cy="493776"/>
          </a:xfrm>
          <a:prstGeom prst="rect">
            <a:avLst/>
          </a:prstGeom>
          <a:solidFill>
            <a:srgbClr val="1A1240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693408" y="1481328"/>
            <a:ext cx="45720" cy="4937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784848" y="149961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⭐⭐⭐⭐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84848" y="1738092"/>
            <a:ext cx="1691640" cy="177759"/>
          </a:xfrm>
          <a:prstGeom prst="rect">
            <a:avLst/>
          </a:prstGeom>
          <a:solidFill>
            <a:srgbClr val="5A3DD8"/>
          </a:solidFill>
          <a:ln w="12700">
            <a:solidFill>
              <a:srgbClr val="5A3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784848" y="1738092"/>
            <a:ext cx="169164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2608" y="1975104"/>
            <a:ext cx="2011680" cy="493776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29768" y="1975104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Humanize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04288" y="1975104"/>
            <a:ext cx="1463040" cy="493776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2304288" y="197510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67328" y="1975104"/>
            <a:ext cx="1463040" cy="493776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767328" y="197510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30368" y="1975104"/>
            <a:ext cx="1463040" cy="493776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230368" y="197510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93408" y="1975104"/>
            <a:ext cx="1901952" cy="493776"/>
          </a:xfrm>
          <a:prstGeom prst="rect">
            <a:avLst/>
          </a:prstGeom>
          <a:solidFill>
            <a:srgbClr val="1A1240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693408" y="1975104"/>
            <a:ext cx="45720" cy="4937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784848" y="1993392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⭐⭐⭐⭐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84848" y="2231868"/>
            <a:ext cx="1691640" cy="177759"/>
          </a:xfrm>
          <a:prstGeom prst="rect">
            <a:avLst/>
          </a:prstGeom>
          <a:solidFill>
            <a:srgbClr val="5A3DD8"/>
          </a:solidFill>
          <a:ln w="12700">
            <a:solidFill>
              <a:srgbClr val="5A3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784848" y="2231868"/>
            <a:ext cx="169164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1,000×/day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92608" y="2468880"/>
            <a:ext cx="2011680" cy="493776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29768" y="2468880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304288" y="2468880"/>
            <a:ext cx="1463040" cy="493776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2304288" y="246888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767328" y="2468880"/>
            <a:ext cx="1463040" cy="493776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3767328" y="246888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30368" y="2468880"/>
            <a:ext cx="1463040" cy="493776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230368" y="246888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⭐⭐⭐⭐⭐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93408" y="2468880"/>
            <a:ext cx="1901952" cy="493776"/>
          </a:xfrm>
          <a:prstGeom prst="rect">
            <a:avLst/>
          </a:prstGeom>
          <a:solidFill>
            <a:srgbClr val="1A1240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693408" y="2468880"/>
            <a:ext cx="45720" cy="4937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784848" y="248716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⭐⭐⭐⭐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84848" y="2725644"/>
            <a:ext cx="1691640" cy="177759"/>
          </a:xfrm>
          <a:prstGeom prst="rect">
            <a:avLst/>
          </a:prstGeom>
          <a:solidFill>
            <a:srgbClr val="5A3DD8"/>
          </a:solidFill>
          <a:ln w="12700">
            <a:solidFill>
              <a:srgbClr val="5A3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6784848" y="2725644"/>
            <a:ext cx="169164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92608" y="2962656"/>
            <a:ext cx="2011680" cy="493776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429768" y="2962656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Email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304288" y="2962656"/>
            <a:ext cx="1463040" cy="493776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2304288" y="296265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767328" y="2962656"/>
            <a:ext cx="1463040" cy="493776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3767328" y="296265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230368" y="2962656"/>
            <a:ext cx="1463040" cy="493776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5230368" y="296265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⭐⭐⭐⭐⭐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693408" y="2962656"/>
            <a:ext cx="1901952" cy="493776"/>
          </a:xfrm>
          <a:prstGeom prst="rect">
            <a:avLst/>
          </a:prstGeom>
          <a:solidFill>
            <a:srgbClr val="1A1240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6693408" y="2962656"/>
            <a:ext cx="45720" cy="4937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6784848" y="2980944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⭐⭐⭐⭐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784848" y="3219420"/>
            <a:ext cx="1691640" cy="177759"/>
          </a:xfrm>
          <a:prstGeom prst="rect">
            <a:avLst/>
          </a:prstGeom>
          <a:solidFill>
            <a:srgbClr val="5A3DD8"/>
          </a:solidFill>
          <a:ln w="12700">
            <a:solidFill>
              <a:srgbClr val="5A3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6784848" y="3219420"/>
            <a:ext cx="169164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⚡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92608" y="3456432"/>
            <a:ext cx="2011680" cy="493776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429768" y="3456432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Grammar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304288" y="3456432"/>
            <a:ext cx="1463040" cy="493776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2304288" y="3456432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767328" y="3456432"/>
            <a:ext cx="1463040" cy="493776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3767328" y="3456432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230368" y="3456432"/>
            <a:ext cx="1463040" cy="493776"/>
          </a:xfrm>
          <a:prstGeom prst="rect">
            <a:avLst/>
          </a:prstGeom>
          <a:solidFill>
            <a:srgbClr val="1C1D32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5230368" y="3456432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⭐⭐⭐⭐⭐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693408" y="3456432"/>
            <a:ext cx="1901952" cy="493776"/>
          </a:xfrm>
          <a:prstGeom prst="rect">
            <a:avLst/>
          </a:prstGeom>
          <a:solidFill>
            <a:srgbClr val="1A1240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6693408" y="3456432"/>
            <a:ext cx="45720" cy="4937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6784848" y="347472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⭐⭐⭐⭐⭐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784848" y="3713196"/>
            <a:ext cx="1691640" cy="177759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6784848" y="3713196"/>
            <a:ext cx="169164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#1 ✅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92608" y="3950208"/>
            <a:ext cx="2011680" cy="493776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429768" y="3950208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2304288" y="3950208"/>
            <a:ext cx="1463040" cy="493776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80"/>
          <p:cNvSpPr/>
          <p:nvPr/>
        </p:nvSpPr>
        <p:spPr>
          <a:xfrm>
            <a:off x="2304288" y="395020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⭐⭐⭐⭐⭐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767328" y="3950208"/>
            <a:ext cx="1463040" cy="493776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2"/>
          <p:cNvSpPr/>
          <p:nvPr/>
        </p:nvSpPr>
        <p:spPr>
          <a:xfrm>
            <a:off x="3767328" y="395020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230368" y="3950208"/>
            <a:ext cx="1463040" cy="493776"/>
          </a:xfrm>
          <a:prstGeom prst="rect">
            <a:avLst/>
          </a:prstGeom>
          <a:solidFill>
            <a:srgbClr val="12131F"/>
          </a:solidFill>
          <a:ln w="2540">
            <a:solidFill>
              <a:srgbClr val="94A3B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4"/>
          <p:cNvSpPr/>
          <p:nvPr/>
        </p:nvSpPr>
        <p:spPr>
          <a:xfrm>
            <a:off x="5230368" y="395020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⭐⭐⭐⭐⭐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693408" y="3950208"/>
            <a:ext cx="1901952" cy="493776"/>
          </a:xfrm>
          <a:prstGeom prst="rect">
            <a:avLst/>
          </a:prstGeom>
          <a:solidFill>
            <a:srgbClr val="1A1240"/>
          </a:solidFill>
          <a:ln w="6350">
            <a:solidFill>
              <a:srgbClr val="7C5CFC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6"/>
          <p:cNvSpPr/>
          <p:nvPr/>
        </p:nvSpPr>
        <p:spPr>
          <a:xfrm>
            <a:off x="6693408" y="3950208"/>
            <a:ext cx="45720" cy="4937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Text 87"/>
          <p:cNvSpPr/>
          <p:nvPr/>
        </p:nvSpPr>
        <p:spPr>
          <a:xfrm>
            <a:off x="6784848" y="396849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⭐⭐⭐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784848" y="4206972"/>
            <a:ext cx="1691640" cy="177759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89"/>
          <p:cNvSpPr/>
          <p:nvPr/>
        </p:nvSpPr>
        <p:spPr>
          <a:xfrm>
            <a:off x="6784848" y="4206972"/>
            <a:ext cx="169164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GPT here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292608" y="4736592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 uses GPT-OSS 120B via Groq. Quality is competitive — not #1 — but expert prompts built into every button close the gap significantly for daily tasks.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097280"/>
            <a:ext cx="3657600" cy="3657600"/>
          </a:xfrm>
          <a:prstGeom prst="ellipse">
            <a:avLst/>
          </a:prstGeom>
          <a:solidFill>
            <a:srgbClr val="7C5CFC">
              <a:alpha val="10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BEBO Wins for Everyday 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smartest AI. The most usable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097280"/>
            <a:ext cx="2743200" cy="182880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92608" y="1097280"/>
            <a:ext cx="2743200" cy="54864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530352" cy="530352"/>
          </a:xfrm>
          <a:prstGeom prst="ellipse">
            <a:avLst/>
          </a:prstGeom>
          <a:solidFill>
            <a:srgbClr val="7C5CFC">
              <a:alpha val="82000"/>
            </a:srgbClr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2252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" y="1719072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once. Result in 2 seconds.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browser, no login, no new tab. Ever.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91256" y="1097280"/>
            <a:ext cx="2743200" cy="182880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191256" y="1097280"/>
            <a:ext cx="2743200" cy="54864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355848" y="1207008"/>
            <a:ext cx="530352" cy="530352"/>
          </a:xfrm>
          <a:prstGeom prst="ellipse">
            <a:avLst/>
          </a:prstGeom>
          <a:solidFill>
            <a:srgbClr val="7C5CFC">
              <a:alpha val="82000"/>
            </a:srgbClr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55848" y="12070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95928" y="12252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Free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9272" y="1719072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requests/day on Groq free tier.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gives you 20. BEBO gives you 1,000.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1097280"/>
            <a:ext cx="2743200" cy="182880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089904" y="1097280"/>
            <a:ext cx="2743200" cy="54864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254496" y="1207008"/>
            <a:ext cx="530352" cy="530352"/>
          </a:xfrm>
          <a:prstGeom prst="ellipse">
            <a:avLst/>
          </a:prstGeom>
          <a:solidFill>
            <a:srgbClr val="7C5CFC">
              <a:alpha val="82000"/>
            </a:srgbClr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54496" y="12070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94576" y="12252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Expert Prompts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1719072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button fires a precision prompt.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know how to prompt — BEBO does it for you.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" y="3090672"/>
            <a:ext cx="4160520" cy="141732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92608" y="3090672"/>
            <a:ext cx="4160520" cy="347472"/>
          </a:xfrm>
          <a:prstGeom prst="rect">
            <a:avLst/>
          </a:prstGeom>
          <a:solidFill>
            <a:srgbClr val="7C5CFC">
              <a:alpha val="88000"/>
            </a:srgbClr>
          </a:solidFill>
          <a:ln w="1270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84048" y="30906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 is better when...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" y="35112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 need fast answers without switching windows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" y="3749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 repeat the same AI tasks every day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" y="39867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You're fixing grammar, summarizing, drafting emails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42245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 want free AI with no daily message anxiety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090672"/>
            <a:ext cx="4187952" cy="1417320"/>
          </a:xfrm>
          <a:prstGeom prst="rect">
            <a:avLst/>
          </a:prstGeom>
          <a:solidFill>
            <a:srgbClr val="1C1D32"/>
          </a:solidFill>
          <a:ln w="6350">
            <a:solidFill>
              <a:srgbClr val="7C5CFC">
                <a:alpha val="42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663440" y="3090672"/>
            <a:ext cx="4187952" cy="347472"/>
          </a:xfrm>
          <a:prstGeom prst="rect">
            <a:avLst/>
          </a:prstGeom>
          <a:solidFill>
            <a:srgbClr val="94A3B8">
              <a:alpha val="4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773168" y="30906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/ Claude when...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91456" y="35112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 need deep reasoning or complex research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91456" y="3749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 want to browse the web for live information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91456" y="39867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You're doing a long multi-turn conversation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91456" y="42245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 need image or file understanding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" y="4626864"/>
            <a:ext cx="8558784" cy="420624"/>
          </a:xfrm>
          <a:prstGeom prst="rect">
            <a:avLst/>
          </a:prstGeom>
          <a:solidFill>
            <a:srgbClr val="7C5CFC">
              <a:alpha val="32000"/>
            </a:srgbClr>
          </a:solidFill>
          <a:ln w="6350">
            <a:solidFill>
              <a:srgbClr val="7C5CFC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92608" y="4626864"/>
            <a:ext cx="8558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"ChatGPT is a Swiss Army knife. BEBO is the knife already in your hand."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92608" y="4892040"/>
            <a:ext cx="8558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BEBO is built on Electron + Node.js + Groq API  •  Free to run  •  Built by a student, for students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low"/>
          <p:cNvSpPr/>
          <p:nvPr/>
        </p:nvSpPr>
        <p:spPr>
          <a:xfrm>
            <a:off x="5486400" y="-457200"/>
            <a:ext cx="3657600" cy="3657600"/>
          </a:xfrm>
          <a:prstGeom prst="rect">
            <a:avLst/>
          </a:prstGeom>
          <a:solidFill>
            <a:srgbClr val="7C5CFC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itle"/>
          <p:cNvSpPr txBox="1"/>
          <p:nvPr/>
        </p:nvSpPr>
        <p:spPr>
          <a:xfrm>
            <a:off x="457200" y="1524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3200" b="1" dirty="0">
                <a:solidFill>
                  <a:srgbClr val="EEF2FF"/>
                </a:solidFill>
                <a:latin typeface="Calibri"/>
              </a:rPr>
              <a:t>BEBO is the Fastest AI Workflow — By Far</a:t>
            </a:r>
          </a:p>
        </p:txBody>
      </p:sp>
      <p:sp>
        <p:nvSpPr>
          <p:cNvPr id="13" name="LCard"/>
          <p:cNvSpPr/>
          <p:nvPr/>
        </p:nvSpPr>
        <p:spPr>
          <a:xfrm>
            <a:off x="411480" y="762000"/>
            <a:ext cx="3977640" cy="2286000"/>
          </a:xfrm>
          <a:prstGeom prst="rect">
            <a:avLst/>
          </a:prstGeom>
          <a:solidFill>
            <a:srgbClr val="16172A"/>
          </a:solidFill>
          <a:ln w="9525">
            <a:solidFill>
              <a:srgbClr val="2A2B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LHdr"/>
          <p:cNvSpPr txBox="1"/>
          <p:nvPr/>
        </p:nvSpPr>
        <p:spPr>
          <a:xfrm>
            <a:off x="457200" y="776000"/>
            <a:ext cx="38862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600" b="1" dirty="0">
                <a:solidFill>
                  <a:srgbClr val="A78BFA"/>
                </a:solidFill>
                <a:latin typeface="Calibri"/>
              </a:rPr>
              <a:t>⚡ API Response Speed</a:t>
            </a:r>
          </a:p>
        </p:txBody>
      </p:sp>
      <p:graphicFrame>
        <p:nvGraphicFramePr>
          <p:cNvPr id="15" name="APITable"/>
          <p:cNvGraphicFramePr>
            <a:graphicFrameLocks noGrp="1"/>
          </p:cNvGraphicFramePr>
          <p:nvPr/>
        </p:nvGraphicFramePr>
        <p:xfrm>
          <a:off x="457200" y="1080000"/>
          <a:ext cx="3886200" cy="2076720"/>
        </p:xfrm>
        <a:graphic>
          <a:graphicData uri="http://schemas.openxmlformats.org/drawingml/2006/table">
            <a:tbl>
              <a:tblPr/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EEF2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E1F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EEF2FF"/>
                          </a:solidFill>
                          <a:latin typeface="Calibri"/>
                        </a:rPr>
                        <a:t>Tok/s</a:t>
                      </a:r>
                    </a:p>
                  </a:txBody>
                  <a:tcPr>
                    <a:solidFill>
                      <a:srgbClr val="1E1F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EEF2FF"/>
                          </a:solidFill>
                          <a:latin typeface="Calibri"/>
                        </a:rPr>
                        <a:t>200-tok task</a:t>
                      </a:r>
                    </a:p>
                  </a:txBody>
                  <a:tcPr>
                    <a:solidFill>
                      <a:srgbClr val="1E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A78BFA"/>
                          </a:solidFill>
                          <a:latin typeface="Calibri"/>
                        </a:rPr>
                        <a:t>BEBO  (Groq + GPT-OSS 120B)</a:t>
                      </a:r>
                    </a:p>
                  </a:txBody>
                  <a:tcPr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6EE7B7"/>
                          </a:solidFill>
                          <a:latin typeface="Calibri"/>
                        </a:rPr>
                        <a:t>~500</a:t>
                      </a:r>
                    </a:p>
                  </a:txBody>
                  <a:tcPr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6EE7B7"/>
                          </a:solidFill>
                          <a:latin typeface="Calibri"/>
                        </a:rPr>
                        <a:t>0.4–0.6s ★</a:t>
                      </a:r>
                    </a:p>
                  </a:txBody>
                  <a:tcPr>
                    <a:solidFill>
                      <a:srgbClr val="2D1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Gemini 2.0 Flash</a:t>
                      </a:r>
                    </a:p>
                  </a:txBody>
                  <a:tcPr>
                    <a:solidFill>
                      <a:srgbClr val="16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~200–300</a:t>
                      </a:r>
                    </a:p>
                  </a:txBody>
                  <a:tcPr>
                    <a:solidFill>
                      <a:srgbClr val="16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0.8–1.2s</a:t>
                      </a:r>
                    </a:p>
                  </a:txBody>
                  <a:tcPr>
                    <a:solidFill>
                      <a:srgbClr val="16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GPT-4o mini</a:t>
                      </a:r>
                    </a:p>
                  </a:txBody>
                  <a:tcPr>
                    <a:solidFill>
                      <a:srgbClr val="1213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~100–150</a:t>
                      </a:r>
                    </a:p>
                  </a:txBody>
                  <a:tcPr>
                    <a:solidFill>
                      <a:srgbClr val="1213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1.5–2.5s</a:t>
                      </a:r>
                    </a:p>
                  </a:txBody>
                  <a:tcPr>
                    <a:solidFill>
                      <a:srgbClr val="121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Claude 3.5 Haiku</a:t>
                      </a:r>
                    </a:p>
                  </a:txBody>
                  <a:tcPr>
                    <a:solidFill>
                      <a:srgbClr val="16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~100–150</a:t>
                      </a:r>
                    </a:p>
                  </a:txBody>
                  <a:tcPr>
                    <a:solidFill>
                      <a:srgbClr val="16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1.5–2.5s</a:t>
                      </a:r>
                    </a:p>
                  </a:txBody>
                  <a:tcPr>
                    <a:solidFill>
                      <a:srgbClr val="16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GPT-4o (limited free)</a:t>
                      </a:r>
                    </a:p>
                  </a:txBody>
                  <a:tcPr>
                    <a:solidFill>
                      <a:srgbClr val="1213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~80–100</a:t>
                      </a:r>
                    </a:p>
                  </a:txBody>
                  <a:tcPr>
                    <a:solidFill>
                      <a:srgbClr val="1213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2.0–3.0s</a:t>
                      </a:r>
                    </a:p>
                  </a:txBody>
                  <a:tcPr>
                    <a:solidFill>
                      <a:srgbClr val="121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Card"/>
          <p:cNvSpPr/>
          <p:nvPr/>
        </p:nvSpPr>
        <p:spPr>
          <a:xfrm>
            <a:off x="4754880" y="762000"/>
            <a:ext cx="3977640" cy="2286000"/>
          </a:xfrm>
          <a:prstGeom prst="rect">
            <a:avLst/>
          </a:prstGeom>
          <a:solidFill>
            <a:srgbClr val="16172A"/>
          </a:solidFill>
          <a:ln w="9525">
            <a:solidFill>
              <a:srgbClr val="2A2B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Hdr"/>
          <p:cNvSpPr txBox="1"/>
          <p:nvPr/>
        </p:nvSpPr>
        <p:spPr>
          <a:xfrm>
            <a:off x="4800600" y="776000"/>
            <a:ext cx="38862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600" b="1" dirty="0">
                <a:solidFill>
                  <a:srgbClr val="A78BFA"/>
                </a:solidFill>
                <a:latin typeface="Calibri"/>
              </a:rPr>
              <a:t>🖥  Full Workflow Speed (realistic)</a:t>
            </a:r>
          </a:p>
        </p:txBody>
      </p:sp>
      <p:graphicFrame>
        <p:nvGraphicFramePr>
          <p:cNvPr id="18" name="WFTable"/>
          <p:cNvGraphicFramePr>
            <a:graphicFrameLocks noGrp="1"/>
          </p:cNvGraphicFramePr>
          <p:nvPr/>
        </p:nvGraphicFramePr>
        <p:xfrm>
          <a:off x="4800600" y="1080000"/>
          <a:ext cx="3886200" cy="1950000"/>
        </p:xfrm>
        <a:graphic>
          <a:graphicData uri="http://schemas.openxmlformats.org/drawingml/2006/table">
            <a:tbl>
              <a:tblPr/>
              <a:tblGrid>
                <a:gridCol w="22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EEF2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1E1F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EEF2FF"/>
                          </a:solidFill>
                          <a:latin typeface="Calibri"/>
                        </a:rPr>
                        <a:t>Total Time</a:t>
                      </a:r>
                    </a:p>
                  </a:txBody>
                  <a:tcPr>
                    <a:solidFill>
                      <a:srgbClr val="1E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A78BFA"/>
                          </a:solidFill>
                          <a:latin typeface="Calibri"/>
                        </a:rPr>
                        <a:t>BEBO</a:t>
                      </a:r>
                    </a:p>
                  </a:txBody>
                  <a:tcPr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6EE7B7"/>
                          </a:solidFill>
                          <a:latin typeface="Calibri"/>
                        </a:rPr>
                        <a:t>~3–4 sec ★</a:t>
                      </a:r>
                    </a:p>
                  </a:txBody>
                  <a:tcPr>
                    <a:solidFill>
                      <a:srgbClr val="2D1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Gemini 2.0 Flash</a:t>
                      </a:r>
                    </a:p>
                  </a:txBody>
                  <a:tcPr>
                    <a:solidFill>
                      <a:srgbClr val="16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~10–13 sec</a:t>
                      </a:r>
                    </a:p>
                  </a:txBody>
                  <a:tcPr>
                    <a:solidFill>
                      <a:srgbClr val="16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ChatGPT (GPT-4o mini)</a:t>
                      </a:r>
                    </a:p>
                  </a:txBody>
                  <a:tcPr>
                    <a:solidFill>
                      <a:srgbClr val="1213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~11–14 sec</a:t>
                      </a:r>
                    </a:p>
                  </a:txBody>
                  <a:tcPr>
                    <a:solidFill>
                      <a:srgbClr val="121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Claude (browser)</a:t>
                      </a:r>
                    </a:p>
                  </a:txBody>
                  <a:tcPr>
                    <a:solidFill>
                      <a:srgbClr val="16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8B8FA8"/>
                          </a:solidFill>
                          <a:latin typeface="Calibri"/>
                        </a:rPr>
                        <a:t>~12–15 sec</a:t>
                      </a:r>
                    </a:p>
                  </a:txBody>
                  <a:tcPr>
                    <a:solidFill>
                      <a:srgbClr val="16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VL_bg"/>
          <p:cNvSpPr/>
          <p:nvPr/>
        </p:nvSpPr>
        <p:spPr>
          <a:xfrm>
            <a:off x="411480" y="3160000"/>
            <a:ext cx="3977640" cy="1560000"/>
          </a:xfrm>
          <a:prstGeom prst="rect">
            <a:avLst/>
          </a:prstGeom>
          <a:solidFill>
            <a:srgbClr val="065F46"/>
          </a:solidFill>
          <a:ln w="9525">
            <a:solidFill>
              <a:srgbClr val="065F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VL"/>
          <p:cNvSpPr txBox="1"/>
          <p:nvPr/>
        </p:nvSpPr>
        <p:spPr>
          <a:xfrm>
            <a:off x="548640" y="3274300"/>
            <a:ext cx="3703320" cy="1331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700" b="1" dirty="0">
                <a:solidFill>
                  <a:srgbClr val="6EE7B7"/>
                </a:solidFill>
                <a:latin typeface="Calibri"/>
              </a:rPr>
              <a:t>✅  BEBO Wins on Speed</a:t>
            </a:r>
          </a:p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EEF2FF"/>
                </a:solidFill>
                <a:latin typeface="Calibri"/>
              </a:rPr>
              <a:t>Groq LPUs — no GPU can match it.</a:t>
            </a:r>
          </a:p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EEF2FF"/>
                </a:solidFill>
                <a:latin typeface="Calibri"/>
              </a:rPr>
              <a:t>Gemini 2.0 Flash is closing the gap but</a:t>
            </a:r>
          </a:p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EEF2FF"/>
                </a:solidFill>
                <a:latin typeface="Calibri"/>
              </a:rPr>
              <a:t>BEBO still 3–5× faster end-to-end.</a:t>
            </a:r>
          </a:p>
        </p:txBody>
      </p:sp>
      <p:sp>
        <p:nvSpPr>
          <p:cNvPr id="21" name="VR_bg"/>
          <p:cNvSpPr/>
          <p:nvPr/>
        </p:nvSpPr>
        <p:spPr>
          <a:xfrm>
            <a:off x="4754880" y="3160000"/>
            <a:ext cx="3977640" cy="156000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VR"/>
          <p:cNvSpPr txBox="1"/>
          <p:nvPr/>
        </p:nvSpPr>
        <p:spPr>
          <a:xfrm>
            <a:off x="4892040" y="3274300"/>
            <a:ext cx="3703320" cy="1331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700" b="1" dirty="0">
                <a:solidFill>
                  <a:srgbClr val="9CA3AF"/>
                </a:solidFill>
                <a:latin typeface="Calibri"/>
              </a:rPr>
              <a:t>❌  Others Win</a:t>
            </a:r>
          </a:p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EEF2FF"/>
                </a:solidFill>
                <a:latin typeface="Calibri"/>
              </a:rPr>
              <a:t>Complex reasoning, coding,</a:t>
            </a:r>
          </a:p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EEF2FF"/>
                </a:solidFill>
                <a:latin typeface="Calibri"/>
              </a:rPr>
              <a:t>image understanding, memory,</a:t>
            </a:r>
          </a:p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EEF2FF"/>
                </a:solidFill>
                <a:latin typeface="Calibri"/>
              </a:rPr>
              <a:t>long documents, real-time data.</a:t>
            </a:r>
          </a:p>
        </p:txBody>
      </p:sp>
      <p:sp>
        <p:nvSpPr>
          <p:cNvPr id="23" name="Source"/>
          <p:cNvSpPr txBox="1"/>
          <p:nvPr/>
        </p:nvSpPr>
        <p:spPr>
          <a:xfrm>
            <a:off x="457200" y="4890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900" dirty="0">
                <a:solidFill>
                  <a:srgbClr val="8B8FA8"/>
                </a:solidFill>
                <a:latin typeface="Calibri"/>
              </a:rPr>
              <a:t>Source: Groq published benchmarks · measured workflow timing (browser already open)</a:t>
            </a:r>
          </a:p>
        </p:txBody>
      </p:sp>
    </p:spTree>
    <p:extLst>
      <p:ext uri="{BB962C8B-B14F-4D97-AF65-F5344CB8AC3E}">
        <p14:creationId xmlns:p14="http://schemas.microsoft.com/office/powerpoint/2010/main" val="3983155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F0E180-290A-445B-B9EF-06B6EE56E9FA}">
  <we:reference id="wa200010001" version="1.0.0.1" store="en-GB" storeType="OMEX"/>
  <we:alternateReferences>
    <we:reference id="wa200010001" version="1.0.0.1" store="" storeType="OMEX"/>
  </we:alternateReferences>
  <we:properties>
    <we:property name="claude.fileId" value="&quot;ba0ea580-21ff-4c13-ac73-d8941c0a117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1814</Words>
  <Application>Microsoft Office PowerPoint</Application>
  <PresentationFormat>On-screen Show (16:9)</PresentationFormat>
  <Paragraphs>411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BEBO the PET — AI Desktop Companion</dc:title>
  <dc:subject>PptxGenJS Presentation</dc:subject>
  <dc:creator>Bhavik Thakkar</dc:creator>
  <cp:lastModifiedBy>BHAVIK THAKKAR</cp:lastModifiedBy>
  <cp:revision>6</cp:revision>
  <dcterms:created xsi:type="dcterms:W3CDTF">2026-05-26T04:28:20Z</dcterms:created>
  <dcterms:modified xsi:type="dcterms:W3CDTF">2026-05-26T11:47:47Z</dcterms:modified>
</cp:coreProperties>
</file>
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019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1097280"/>
            <a:ext cx="5943600" cy="5943600"/>
          </a:xfrm>
          <a:prstGeom prst="ellipse">
            <a:avLst/>
          </a:prstGeom>
          <a:solidFill>
            <a:srgbClr val="7C5CFC">
              <a:alpha val="13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669280" y="-457200"/>
            <a:ext cx="4114800" cy="4114800"/>
          </a:xfrm>
          <a:prstGeom prst="ellipse">
            <a:avLst/>
          </a:prstGeom>
          <a:solidFill>
            <a:srgbClr val="A78BFA">
              <a:alpha val="8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-2131359" y="3383280"/>
            <a:ext cx="4114800" cy="4114800"/>
          </a:xfrm>
          <a:prstGeom prst="ellipse">
            <a:avLst/>
          </a:prstGeom>
          <a:solidFill>
            <a:srgbClr val="7C5CFC">
              <a:alpha val="7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3"/>
          <p:cNvSpPr/>
          <p:nvPr/>
        </p:nvSpPr>
        <p:spPr>
          <a:xfrm>
            <a:off x="347472" y="1280160"/>
            <a:ext cx="64008" cy="21031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the PET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43326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Desktop Companion: 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Always Ready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Bhavik Thakkar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2461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 Bahadur Shastri Institute of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4884241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 Llama 3.3 70B  ×  Groq  ×  Electron</a:t>
            </a:r>
            <a:endParaRPr lang="en-US" sz="1000" dirty="0"/>
          </a:p>
        </p:txBody>
      </p:sp>
      <p:pic>
        <p:nvPicPr>
          <p:cNvPr id="11" name="Image 0" descr="C:\Users\admin\OneDrive - Lal Bahadur Shastri Institute of Management\Documents\BEBO the PET\docs\screenshots\bebo-panel-open.png"/>
          <p:cNvPicPr>
            <a:picLocks noChangeAspect="1"/>
          </p:cNvPicPr>
          <p:nvPr/>
        </p:nvPicPr>
        <p:blipFill>
          <a:blip r:embed="rId3"/>
          <a:srcRect l="34341"/>
          <a:stretch>
            <a:fillRect/>
          </a:stretch>
        </p:blipFill>
        <p:spPr>
          <a:xfrm>
            <a:off x="5338482" y="193369"/>
            <a:ext cx="371676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Lose Hours Switching Context Every Day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59536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59536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347472" y="100584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12064" y="120700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12064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7899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Switching Kills Focus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1554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context switching destroys deep work and flow state every single day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736592" y="120700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736592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AI Takes Too Long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1554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ChatGPT or a browser tab creates 30+ seconds of friction every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" y="265176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12064" y="285292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12064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78992" y="28163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Tasks Eat Your Day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200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Summarizing, emailing, fixing grammar — done manually, repeatedly, all day long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651760"/>
            <a:ext cx="4069080" cy="150876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736592" y="2852928"/>
            <a:ext cx="457200" cy="457200"/>
          </a:xfrm>
          <a:prstGeom prst="ellipse">
            <a:avLst/>
          </a:prstGeom>
          <a:solidFill>
            <a:srgbClr val="7C5CFC">
              <a:alpha val="7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73659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03520" y="28163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Lives on Your Desktop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0" y="3200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AI that stays permanently visible and ready without a window switch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" y="4370832"/>
            <a:ext cx="8449056" cy="512064"/>
          </a:xfrm>
          <a:prstGeom prst="rect">
            <a:avLst/>
          </a:prstGeom>
          <a:solidFill>
            <a:srgbClr val="7C5CFC">
              <a:alpha val="22000"/>
            </a:srgbClr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47472" y="4370832"/>
            <a:ext cx="8449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your AI was always one click away — right on your desktop?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BEBO — Your Desktop AI Pet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41248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animated robot that lives on your Windows desktop.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visible. Always on top. Click once — get AI superpowers.</a:t>
            </a:r>
            <a:endParaRPr lang="en-US" sz="1500" dirty="0"/>
          </a:p>
        </p:txBody>
      </p:sp>
      <p:pic>
        <p:nvPicPr>
          <p:cNvPr id="6" name="Image 0" descr="C:\Users\admin\OneDrive - Lal Bahadur Shastri Institute of Management\Documents\BEBO the PET\docs\screenshots\bebo-pet-on-desktop.png"/>
          <p:cNvPicPr>
            <a:picLocks noChangeAspect="1"/>
          </p:cNvPicPr>
          <p:nvPr/>
        </p:nvPicPr>
        <p:blipFill>
          <a:blip r:embed="rId3"/>
          <a:srcRect l="46305"/>
          <a:stretch>
            <a:fillRect/>
          </a:stretch>
        </p:blipFill>
        <p:spPr>
          <a:xfrm>
            <a:off x="6071616" y="868680"/>
            <a:ext cx="2752343" cy="3520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2103120"/>
            <a:ext cx="178308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1024128" y="2231136"/>
            <a:ext cx="457200" cy="457200"/>
          </a:xfrm>
          <a:prstGeom prst="ellipse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1024128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🐾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57200" y="2788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on desktop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67712" y="2103120"/>
            <a:ext cx="178308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2926080" y="2231136"/>
            <a:ext cx="457200" cy="457200"/>
          </a:xfrm>
          <a:prstGeom prst="ellipse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926080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59152" y="2788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AI panel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169664" y="2103120"/>
            <a:ext cx="178308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828032" y="2231136"/>
            <a:ext cx="457200" cy="457200"/>
          </a:xfrm>
          <a:prstGeom prst="ellipse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4828032" y="2231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261104" y="27889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47472" y="4498848"/>
            <a:ext cx="8449056" cy="402336"/>
          </a:xfrm>
          <a:prstGeom prst="rect">
            <a:avLst/>
          </a:prstGeom>
          <a:solidFill>
            <a:srgbClr val="1C1D32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347472" y="4498848"/>
            <a:ext cx="8449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 Top  •  Draggable  •  Animated States  •  Zero Browser  •  Free to Run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BEBO Works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909560" cy="45720"/>
          </a:xfrm>
          <a:prstGeom prst="rect">
            <a:avLst/>
          </a:prstGeom>
          <a:solidFill>
            <a:srgbClr val="7C5CFC">
              <a:alpha val="6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4980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sits 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desktop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2996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2432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62432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👆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7063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click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0448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49884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49884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4515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6052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opens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BEBO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7900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7336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37336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1967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3504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text,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53528" y="157276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5CFC"/>
                </a:solidFill>
              </a:rPr>
              <a:t>›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247888" y="1499616"/>
            <a:ext cx="457200" cy="457200"/>
          </a:xfrm>
          <a:prstGeom prst="ellipse">
            <a:avLst/>
          </a:prstGeom>
          <a:solidFill>
            <a:srgbClr val="7C5CFC">
              <a:alpha val="9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247888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94192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09560" y="20848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result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 seconds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463040" y="3383280"/>
            <a:ext cx="6217920" cy="53035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463040" y="3383280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browser.   No tab switching.   No loading screens.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Powerful AI Functions — All Free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77724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47472" y="932688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1042416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Condense any article, report, or email into key points instantly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36976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236976" y="932688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46704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🧑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31336" y="1042416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46704" y="1463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robotic AI text into warm, genuine human writing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126480" y="932688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236208" y="1042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20840" y="1042416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463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complex legal, technical, or academic text instantly clear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7472" y="2450592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57200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📧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1832" y="2560320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298094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professional ready-to-send emails from rough notes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36976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236976" y="2450592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346704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831336" y="2560320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Grammar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46704" y="298094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all errors silently — preserves your exact voice and style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26480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126480" y="2450592"/>
            <a:ext cx="54864" cy="12984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36208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720840" y="2560320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36208" y="298094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prompt — ask anything, get expert-level answers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472" y="4773168"/>
            <a:ext cx="8449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powered by Llama 3.3 70B  •  14,400 free requests/day via Groq  •  No credit card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Modern, Lightweight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347472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347472" y="932688"/>
            <a:ext cx="2651760" cy="640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84632" y="1069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v29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Windows desktop app framework — web tech as a real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6976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36976" y="932688"/>
            <a:ext cx="2651760" cy="64008"/>
          </a:xfrm>
          <a:prstGeom prst="rect">
            <a:avLst/>
          </a:prstGeom>
          <a:solidFill>
            <a:srgbClr val="7C5CFC">
              <a:alpha val="7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374136" y="1069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74136" y="149961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process runtime — IPC, AI calls, window management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932688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126480" y="932688"/>
            <a:ext cx="2651760" cy="640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263640" y="106984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49961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Ultra-fast AI inference — free tier, ~1s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7472" y="2450592"/>
            <a:ext cx="2651760" cy="64008"/>
          </a:xfrm>
          <a:prstGeom prst="rect">
            <a:avLst/>
          </a:prstGeom>
          <a:solidFill>
            <a:srgbClr val="7C5CFC">
              <a:alpha val="7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4632" y="25877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" y="3017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Meta's best open-source large language model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36976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236976" y="2450592"/>
            <a:ext cx="2651760" cy="640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374136" y="25877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74136" y="3017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 — pet animations, panel UI, dark theme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450592"/>
            <a:ext cx="2651760" cy="1298448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126480" y="2450592"/>
            <a:ext cx="2651760" cy="64008"/>
          </a:xfrm>
          <a:prstGeom prst="rect">
            <a:avLst/>
          </a:prstGeom>
          <a:solidFill>
            <a:srgbClr val="7C5CFC">
              <a:alpha val="7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263640" y="25877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dotenv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3017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API key management — keys never touch the code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7472" y="4663440"/>
            <a:ext cx="8449056" cy="347472"/>
          </a:xfrm>
          <a:prstGeom prst="rect">
            <a:avLst/>
          </a:prstGeom>
          <a:solidFill>
            <a:srgbClr val="7C5CFC">
              <a:alpha val="22000"/>
            </a:srgbClr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47472" y="4663440"/>
            <a:ext cx="8449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free to run  •  No subscription  •  No cloud storage  •  Stateless by design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Dual-Window Electron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3429000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3429000" cy="402336"/>
          </a:xfrm>
          <a:prstGeom prst="rect">
            <a:avLst/>
          </a:prstGeom>
          <a:solidFill>
            <a:srgbClr val="7C5CFC">
              <a:alpha val="8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92608" y="987552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Process — Node.js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66928" y="1508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— Entry Point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66928" y="19659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windows.js — Window 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6928" y="24231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ipc-router.js — Event Router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6928" y="2880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ai-service.js — Groq + Prompts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66928" y="33375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shortcuts.js — Global Hotkeys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7C5CFC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66928" y="3794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tray.js — System Tray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858768" y="1874520"/>
            <a:ext cx="1426464" cy="1874520"/>
          </a:xfrm>
          <a:prstGeom prst="rect">
            <a:avLst/>
          </a:prstGeom>
          <a:solidFill>
            <a:srgbClr val="7C5CFC">
              <a:alpha val="3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58768" y="1874520"/>
            <a:ext cx="1426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11880" y="26517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C5CFC"/>
                </a:solidFill>
              </a:rPr>
              <a:t>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193792" y="26517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C5CFC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422392" y="987552"/>
            <a:ext cx="3429000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422392" y="987552"/>
            <a:ext cx="3429000" cy="402336"/>
          </a:xfrm>
          <a:prstGeom prst="rect">
            <a:avLst/>
          </a:prstGeom>
          <a:solidFill>
            <a:srgbClr val="5A3DD8">
              <a:alpha val="82000"/>
            </a:srgbClr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422392" y="987552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 Process — Browser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77840" y="1508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687568" y="1508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pet/index.html — Pet Markup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19659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687568" y="19659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pet/pet.css — Animations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77840" y="24231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687568" y="24231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pet/pet.js — State Machine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0" y="28803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687568" y="28803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panel/index.html — Panel UI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577840" y="33375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687568" y="33375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panel/panel.css — Dark Theme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577840" y="3794760"/>
            <a:ext cx="3108960" cy="347472"/>
          </a:xfrm>
          <a:prstGeom prst="rect">
            <a:avLst/>
          </a:prstGeom>
          <a:solidFill>
            <a:srgbClr val="1E2040"/>
          </a:solidFill>
          <a:ln w="3810">
            <a:solidFill>
              <a:srgbClr val="A78BFA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687568" y="37947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panel/panel.js — AI Handler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47472" y="4773168"/>
            <a:ext cx="8449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contextIsolation: true  •  nodeIntegration: false  •  Secure preload IPC bridges on both windows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Expert-Grade Prompt Engineering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914400" cy="713232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92608" y="98755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61872" y="987552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353312" y="98755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expert framing — tells the model exactly who it is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" y="1883664"/>
            <a:ext cx="914400" cy="71323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92608" y="188366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61872" y="1883664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6366F1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353312" y="188366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precisely what the task must accomplish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2608" y="2779776"/>
            <a:ext cx="91440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2608" y="2779776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61872" y="2779776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3B82F6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53312" y="277977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the user's situation and what they need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" y="3675888"/>
            <a:ext cx="914400" cy="7132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2608" y="367588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61872" y="3675888"/>
            <a:ext cx="3840480" cy="713232"/>
          </a:xfrm>
          <a:prstGeom prst="rect">
            <a:avLst/>
          </a:prstGeom>
          <a:solidFill>
            <a:srgbClr val="1C1D32"/>
          </a:solidFill>
          <a:ln w="6350">
            <a:solidFill>
              <a:srgbClr val="0EA5E9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53312" y="36758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rules: format, tone, length, what to avoid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21808" y="896112"/>
            <a:ext cx="3511296" cy="36576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321808" y="896112"/>
            <a:ext cx="3511296" cy="402336"/>
          </a:xfrm>
          <a:prstGeom prst="rect">
            <a:avLst/>
          </a:prstGeom>
          <a:solidFill>
            <a:srgbClr val="7C5CFC">
              <a:alpha val="8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321808" y="896112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Tuning — Per Task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68112" y="14173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Grammar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76288" y="141732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71232" y="1417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68112" y="181051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468112" y="19202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76288" y="19202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571232" y="19202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68112" y="231343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468112" y="24231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76288" y="24231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71232" y="24231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68112" y="281635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468112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76288" y="292608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571232" y="29260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68112" y="331927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468112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76288" y="34290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71232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68112" y="3822192"/>
            <a:ext cx="3246120" cy="18288"/>
          </a:xfrm>
          <a:prstGeom prst="rect">
            <a:avLst/>
          </a:prstGeom>
          <a:solidFill>
            <a:srgbClr val="94A3B8">
              <a:alpha val="26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468112" y="3931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Humanize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876288" y="393192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71232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47472" y="4773168"/>
            <a:ext cx="8449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passes through stripMarkdown() — guaranteed clean plain text, always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Groq + Llama 3.3 70B?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229600" cy="420624"/>
          </a:xfrm>
          <a:prstGeom prst="rect">
            <a:avLst/>
          </a:prstGeom>
          <a:solidFill>
            <a:srgbClr val="7C5CFC">
              <a:alpha val="8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98755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4720" y="98755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Free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23560" y="98755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+ Llama 3.3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08176"/>
            <a:ext cx="8229600" cy="475488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94360" y="140817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Requests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day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23560" y="140817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/ day 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83664"/>
            <a:ext cx="8229600" cy="475488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94360" y="188366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Speed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188366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23560" y="188366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Fast (~1s) 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359152"/>
            <a:ext cx="8229600" cy="475488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4360" y="23591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2359152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23560" y="235915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8229600" cy="475488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94360" y="2834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Required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283464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23560" y="283464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✅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10128"/>
            <a:ext cx="8229600" cy="475488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94360" y="33101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Quality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74720" y="331012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23560" y="3310128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equivalent ✅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785616"/>
            <a:ext cx="8229600" cy="475488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94360" y="378561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74720" y="378561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regions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23560" y="378561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✅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solidFill>
            <a:srgbClr val="7C5CFC">
              <a:alpha val="22000"/>
            </a:srgbClr>
          </a:solidFill>
          <a:ln w="6350">
            <a:solidFill>
              <a:srgbClr val="7C5CFC">
                <a:alpha val="6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free requests/day = ~10 AI tasks per minute, every minute, all day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Solo with AI-Assisted Development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04672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7909560" cy="45720"/>
          </a:xfrm>
          <a:prstGeom prst="rect">
            <a:avLst/>
          </a:prstGeom>
          <a:solidFill>
            <a:srgbClr val="7C5CFC">
              <a:alpha val="6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93776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93776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10896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AI pet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visible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95559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95559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85831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🏗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12679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76103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design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97342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97342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7614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🐾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714462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Window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77886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animations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state machine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99125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099125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89397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🖥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16245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UI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79669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wiring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00907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300907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91179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118027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81451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→ Groq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02690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02690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92962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19810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83234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ROLE/OBJ/CTX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04473" y="1426464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704473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94745" y="195681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521593" y="2395728"/>
            <a:ext cx="85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Polish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485017" y="2688336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Toggle, resize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drag, position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65760" y="31272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69164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169164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2608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292608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16052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16052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39496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39496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62940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662940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863840" y="3108960"/>
            <a:ext cx="1115568" cy="329184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863840" y="31089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7472" y="3611880"/>
            <a:ext cx="8449056" cy="98755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47472" y="3611880"/>
            <a:ext cx="64008" cy="987552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530352" y="3611880"/>
            <a:ext cx="8183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"Built entirely solo using AI-assisted development — Claude handled architecture, debugging, and prompt engineering in real time."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in Action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2651760" cy="32461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:\Users\admin\OneDrive - Lal Bahadur Shastri Institute of Management\Documents\BEBO the PET\docs\screenshots\bebo-pet-on-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024128"/>
            <a:ext cx="2578608" cy="3154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" y="43159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in screen corner • Animated • Drag anywhere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145536" y="987552"/>
            <a:ext cx="2651760" cy="32461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1" descr="C:\Users\admin\OneDrive - Lal Bahadur Shastri Institute of Management\Documents\BEBO the PET\docs\screenshots\bebo-panel-open.png"/>
          <p:cNvPicPr>
            <a:picLocks noChangeAspect="1"/>
          </p:cNvPicPr>
          <p:nvPr/>
        </p:nvPicPr>
        <p:blipFill>
          <a:blip r:embed="rId4"/>
          <a:srcRect l="35663"/>
          <a:stretch>
            <a:fillRect/>
          </a:stretch>
        </p:blipFill>
        <p:spPr>
          <a:xfrm>
            <a:off x="3145536" y="1024128"/>
            <a:ext cx="2615183" cy="31546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45536" y="43159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next to BEBO • Resizable • Clean design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998464" y="987552"/>
            <a:ext cx="2651760" cy="32461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6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mage 2" descr="C:\Users\admin\OneDrive - Lal Bahadur Shastri Institute of Management\Documents\BEBO the PET\docs\screenshots\bebo-ai-outp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024128"/>
            <a:ext cx="2578608" cy="31546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998464" y="431596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output • One-click Copy • Under 2s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347472" y="4800600"/>
            <a:ext cx="8449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opens next to BEBO's position  •  Resizable  •  Editable output  •  One-click Copy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 UX Details That Matter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" y="1280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87552" y="1124712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always opens next to BEBO — follows the pet wherever you drag it on screen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81728" y="987552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681728" y="987552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809744" y="1280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76672" y="1124712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resizable panel — but resets to default size every reopen for a clean slate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2608" y="2304288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92608" y="2304288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0624" y="25968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87552" y="2441448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editable — modify AI results directly in the output box before copying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81728" y="2304288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681728" y="2304288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09744" y="25968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376672" y="2441448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BEBO to open, click again to close — a natural, intuitive toggle behavior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2608" y="3621024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" y="3621024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20624" y="3913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⌨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87552" y="3758184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toggles the panel globally — works from any app, any window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81728" y="3621024"/>
            <a:ext cx="4160520" cy="11430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681728" y="3621024"/>
            <a:ext cx="54864" cy="114300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809744" y="3913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🫧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376672" y="3758184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bubble shows live AI status — Working... / Done. / Capturing screen...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for BEBO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92608" y="987552"/>
            <a:ext cx="4023360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4023360" cy="457200"/>
          </a:xfrm>
          <a:prstGeom prst="rect">
            <a:avLst/>
          </a:prstGeom>
          <a:solidFill>
            <a:srgbClr val="7C5CFC">
              <a:alpha val="85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92608" y="9875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Term — v0.2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6002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 Voice input — speak your prompt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25856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 Conversation history panel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91693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Auto-start on Windows login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57530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⌨  Custom hotkey per function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98848" y="987552"/>
            <a:ext cx="4352544" cy="36118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498848" y="987552"/>
            <a:ext cx="4352544" cy="457200"/>
          </a:xfrm>
          <a:prstGeom prst="rect">
            <a:avLst/>
          </a:prstGeom>
          <a:solidFill>
            <a:srgbClr val="5A3DD8">
              <a:alpha val="85000"/>
            </a:srgbClr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498848" y="987552"/>
            <a:ext cx="4352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— v1.0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81728" y="1600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Custom AI personas and personalities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81728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Plugin system — add your own functions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81728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Multi-monitor 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81728" y="3246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  macOS 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1728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Mobile companion app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92608" y="4709160"/>
            <a:ext cx="8558784" cy="347472"/>
          </a:xfrm>
          <a:prstGeom prst="rect">
            <a:avLst/>
          </a:prstGeom>
          <a:solidFill>
            <a:srgbClr val="7C5CFC">
              <a:alpha val="2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92608" y="4709160"/>
            <a:ext cx="8558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is modular — every feature is an independent, stackable component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-731520"/>
            <a:ext cx="5120640" cy="5120640"/>
          </a:xfrm>
          <a:prstGeom prst="ellipse">
            <a:avLst/>
          </a:prstGeom>
          <a:solidFill>
            <a:srgbClr val="7C5CFC">
              <a:alpha val="1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Picture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02920" cy="365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14400" y="822960"/>
            <a:ext cx="7863840" cy="36576"/>
          </a:xfrm>
          <a:prstGeom prst="rect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987552"/>
            <a:ext cx="2743200" cy="22402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" y="987552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84048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02336" y="17373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0-Click Access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2336" y="2176272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always one click from wherever you are on screen — no window switch, no friction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91256" y="987552"/>
            <a:ext cx="2743200" cy="22402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191256" y="987552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282696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🆓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00984" y="17373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Free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00984" y="2176272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requests/day, no credit card, no subscription, no data stored anywhere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9904" y="987552"/>
            <a:ext cx="2743200" cy="224028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089904" y="987552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181344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🧩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199632" y="17373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by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99632" y="2176272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is swappable, addable, removable — built to grow with you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" y="3401568"/>
            <a:ext cx="8558784" cy="11887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" y="3401568"/>
            <a:ext cx="64008" cy="11887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75488" y="3401568"/>
            <a:ext cx="8275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"BEBO proves that powerful AI doesn't need a browser, a subscription, or a context switch.</a:t>
            </a:r>
            <a:endParaRPr lang="en-US" sz="1600" dirty="0"/>
          </a:p>
          <a:p>
            <a:pPr marL="0" indent="0" algn="l">
              <a:buNone/>
            </a:pPr>
            <a:r>
              <a:rPr lang="en-US" sz="1600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just needs to live where you work."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" y="4754880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ambient AI looks like.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365760"/>
            <a:ext cx="4572000" cy="4572000"/>
          </a:xfrm>
          <a:prstGeom prst="ellipse">
            <a:avLst/>
          </a:prstGeom>
          <a:solidFill>
            <a:srgbClr val="7C5CFC">
              <a:alpha val="13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3017520" y="822960"/>
            <a:ext cx="3108960" cy="3108960"/>
          </a:xfrm>
          <a:prstGeom prst="ellipse">
            <a:avLst/>
          </a:prstGeom>
          <a:solidFill>
            <a:srgbClr val="A78BFA">
              <a:alpha val="8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talk.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1874520"/>
            <a:ext cx="2743200" cy="36576"/>
          </a:xfrm>
          <a:prstGeom prst="rect">
            <a:avLst/>
          </a:prstGeom>
          <a:solidFill>
            <a:srgbClr val="7C5CFC">
              <a:alpha val="7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19933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the PET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Bhavik Thakkar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1363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 Bahadur Shastri Institute of Management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8386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github.com/bhavik8025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83133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bhavikthakkar8025@gmail.com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Electron  •  Groq  •  Llama 3.3 70B  •  Claude AI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4572000" cy="4572000"/>
          </a:xfrm>
          <a:prstGeom prst="ellipse">
            <a:avLst/>
          </a:prstGeom>
          <a:solidFill>
            <a:srgbClr val="7C5CFC">
              <a:alpha val="12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-1097280" y="3200400"/>
            <a:ext cx="3200400" cy="3200400"/>
          </a:xfrm>
          <a:prstGeom prst="ellipse">
            <a:avLst/>
          </a:prstGeom>
          <a:solidFill>
            <a:srgbClr val="A78BFA">
              <a:alpha val="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vs. ChatGPT, Gemini &amp; Claude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on free tiers only — the way students actually use AI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" y="1115568"/>
            <a:ext cx="4160520" cy="3273552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92608" y="1115568"/>
            <a:ext cx="54864" cy="3273552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75488" y="1261872"/>
            <a:ext cx="3858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not competitors.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different tools.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" y="1993392"/>
            <a:ext cx="385876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Gemini, and Claude are general-purpose AI platforms — they can do almost anything.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does 6 things — and does them faster, with zero friction, right on your desktop.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isn't which AI is smarter. It's which one you'll actually use every 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4187952" cy="749808"/>
          </a:xfrm>
          <a:prstGeom prst="rect">
            <a:avLst/>
          </a:prstGeom>
          <a:solidFill>
            <a:srgbClr val="1C1D32"/>
          </a:solidFill>
          <a:ln w="5080">
            <a:solidFill>
              <a:srgbClr val="94A3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809744" y="11795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Free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9744" y="1408176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 — Unlimited*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9744" y="1664208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*rate limited, browser only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956816"/>
            <a:ext cx="4187952" cy="749808"/>
          </a:xfrm>
          <a:prstGeom prst="rect">
            <a:avLst/>
          </a:prstGeom>
          <a:solidFill>
            <a:srgbClr val="1C1D32"/>
          </a:solidFill>
          <a:ln w="5080">
            <a:solidFill>
              <a:srgbClr val="94A3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809744" y="20208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Free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249424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~50–100 requests / day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9744" y="2505456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limits apply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2798064"/>
            <a:ext cx="4187952" cy="749808"/>
          </a:xfrm>
          <a:prstGeom prst="rect">
            <a:avLst/>
          </a:prstGeom>
          <a:solidFill>
            <a:srgbClr val="1C1D32"/>
          </a:solidFill>
          <a:ln w="5080">
            <a:solidFill>
              <a:srgbClr val="94A3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809744" y="28620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Free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09744" y="3090672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~20–30 messages / day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9744" y="3346704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/ Sonnet, browser only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3639312"/>
            <a:ext cx="4187952" cy="749808"/>
          </a:xfrm>
          <a:prstGeom prst="rect">
            <a:avLst/>
          </a:prstGeom>
          <a:solidFill>
            <a:srgbClr val="23174A"/>
          </a:solidFill>
          <a:ln w="1905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663440" y="3639312"/>
            <a:ext cx="64008" cy="74980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809744" y="3703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Free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9744" y="393192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 / day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09744" y="4187952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 desktop. No browser.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92608" y="4553712"/>
            <a:ext cx="8558784" cy="475488"/>
          </a:xfrm>
          <a:prstGeom prst="rect">
            <a:avLst/>
          </a:prstGeom>
          <a:solidFill>
            <a:srgbClr val="7C5CFC">
              <a:alpha val="28000"/>
            </a:srgbClr>
          </a:solidFill>
          <a:ln w="6350">
            <a:solidFill>
              <a:srgbClr val="7C5CFC">
                <a:alpha val="7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92608" y="4553712"/>
            <a:ext cx="8558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here is free.  The difference is friction, limits, and where it lives.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Tasks. Honest Scores.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65760" y="80467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output on free tier  |  Expert prompts vs. casual use  |  BEBO's edge is speed + access, not raw intelligence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92608" y="1078992"/>
            <a:ext cx="201168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384048" y="10789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04288" y="1078992"/>
            <a:ext cx="146304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395728" y="1078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67328" y="1078992"/>
            <a:ext cx="146304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858768" y="1078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30368" y="1078992"/>
            <a:ext cx="1463040" cy="40233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21808" y="1078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93408" y="1078992"/>
            <a:ext cx="1901952" cy="402336"/>
          </a:xfrm>
          <a:prstGeom prst="rect">
            <a:avLst/>
          </a:prstGeom>
          <a:solidFill>
            <a:srgbClr val="5A3DD8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784848" y="1078992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" y="1481328"/>
            <a:ext cx="201168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9768" y="1481328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04288" y="1481328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304288" y="14813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67328" y="1481328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767328" y="14813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30368" y="1481328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230368" y="14813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93408" y="1481328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93408" y="1481328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784848" y="1499616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84848" y="1738092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784848" y="1738092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⚡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92608" y="1975104"/>
            <a:ext cx="201168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29768" y="1975104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Humanize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304288" y="1975104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2304288" y="19751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767328" y="1975104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767328" y="19751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230368" y="1975104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230368" y="19751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93408" y="1975104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693408" y="1975104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784848" y="1993392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84848" y="2231868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6784848" y="2231868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14,400×/day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92608" y="2468880"/>
            <a:ext cx="201168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29768" y="246888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304288" y="2468880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304288" y="24688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67328" y="2468880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767328" y="24688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230368" y="2468880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230368" y="24688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693408" y="2468880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693408" y="2468880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84848" y="2487168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784848" y="2725644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6784848" y="2725644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2608" y="2962656"/>
            <a:ext cx="201168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29768" y="296265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304288" y="2962656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2304288" y="29626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3767328" y="2962656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3767328" y="29626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230368" y="2962656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5230368" y="29626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693408" y="2962656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693408" y="2962656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6784848" y="2980944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784848" y="3219420"/>
            <a:ext cx="1691640" cy="177759"/>
          </a:xfrm>
          <a:prstGeom prst="rect">
            <a:avLst/>
          </a:prstGeom>
          <a:solidFill>
            <a:srgbClr val="5A3DD8"/>
          </a:solidFill>
          <a:ln w="12700">
            <a:solidFill>
              <a:srgbClr val="5A3D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6784848" y="3219420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⚡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92608" y="3456432"/>
            <a:ext cx="201168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429768" y="3456432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Grammar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304288" y="3456432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2304288" y="34564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3767328" y="3456432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3767328" y="34564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230368" y="3456432"/>
            <a:ext cx="1463040" cy="493776"/>
          </a:xfrm>
          <a:prstGeom prst="rect">
            <a:avLst/>
          </a:prstGeom>
          <a:solidFill>
            <a:srgbClr val="1C1D32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5230368" y="345643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6693408" y="3456432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6693408" y="3456432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Text 74"/>
          <p:cNvSpPr/>
          <p:nvPr/>
        </p:nvSpPr>
        <p:spPr>
          <a:xfrm>
            <a:off x="6784848" y="347472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⭐⭐⭐⭐⭐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784848" y="3713196"/>
            <a:ext cx="1691640" cy="177759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6784848" y="3713196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#1 ✅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92608" y="3950208"/>
            <a:ext cx="201168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429768" y="3950208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2304288" y="3950208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80"/>
          <p:cNvSpPr/>
          <p:nvPr/>
        </p:nvSpPr>
        <p:spPr>
          <a:xfrm>
            <a:off x="2304288" y="395020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3767328" y="3950208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2"/>
          <p:cNvSpPr/>
          <p:nvPr/>
        </p:nvSpPr>
        <p:spPr>
          <a:xfrm>
            <a:off x="3767328" y="395020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230368" y="3950208"/>
            <a:ext cx="1463040" cy="493776"/>
          </a:xfrm>
          <a:prstGeom prst="rect">
            <a:avLst/>
          </a:prstGeom>
          <a:solidFill>
            <a:srgbClr val="12131F"/>
          </a:solidFill>
          <a:ln w="2540">
            <a:solidFill>
              <a:srgbClr val="94A3B8">
                <a:alpha val="32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5230368" y="395020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⭐⭐⭐⭐⭐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6693408" y="3950208"/>
            <a:ext cx="1901952" cy="493776"/>
          </a:xfrm>
          <a:prstGeom prst="rect">
            <a:avLst/>
          </a:prstGeom>
          <a:solidFill>
            <a:srgbClr val="1A1240"/>
          </a:solidFill>
          <a:ln w="6350">
            <a:solidFill>
              <a:srgbClr val="7C5CFC">
                <a:alpha val="5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6693408" y="3950208"/>
            <a:ext cx="45720" cy="49377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Text 87"/>
          <p:cNvSpPr/>
          <p:nvPr/>
        </p:nvSpPr>
        <p:spPr>
          <a:xfrm>
            <a:off x="6784848" y="3968496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⭐⭐⭐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6784848" y="4206972"/>
            <a:ext cx="1691640" cy="177759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6784848" y="4206972"/>
            <a:ext cx="1691640" cy="177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GPT here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292608" y="4736592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uses Llama 3.3 70B via Groq. Quality is competitive — not #1 — but expert prompts built into every button close the gap significantly for daily tasks.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-1097280"/>
            <a:ext cx="3657600" cy="3657600"/>
          </a:xfrm>
          <a:prstGeom prst="ellipse">
            <a:avLst/>
          </a:prstGeom>
          <a:solidFill>
            <a:srgbClr val="7C5CFC">
              <a:alpha val="10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BEBO Wins for Everyday Use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smartest AI. The most usable one.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2608" y="1097280"/>
            <a:ext cx="2743200" cy="18288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92608" y="1097280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530352" cy="530352"/>
          </a:xfrm>
          <a:prstGeom prst="ellipse">
            <a:avLst/>
          </a:prstGeom>
          <a:solidFill>
            <a:srgbClr val="7C5CFC">
              <a:alpha val="82000"/>
            </a:srgbClr>
          </a:solidFill>
          <a:ln w="1016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12252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Friction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" y="1719072"/>
            <a:ext cx="2505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once. Result in 2 seconds.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browser, no login, no new tab. Ever.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91256" y="1097280"/>
            <a:ext cx="2743200" cy="18288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191256" y="1097280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55848" y="1207008"/>
            <a:ext cx="530352" cy="530352"/>
          </a:xfrm>
          <a:prstGeom prst="ellipse">
            <a:avLst/>
          </a:prstGeom>
          <a:solidFill>
            <a:srgbClr val="7C5CFC">
              <a:alpha val="82000"/>
            </a:srgbClr>
          </a:solidFill>
          <a:ln w="1016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55848" y="1207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95928" y="12252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Free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9272" y="1719072"/>
            <a:ext cx="2505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requests/day on Groq free tier.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gives you 20. BEBO gives you 14,400.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9904" y="1097280"/>
            <a:ext cx="2743200" cy="182880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089904" y="1097280"/>
            <a:ext cx="2743200" cy="54864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54496" y="1207008"/>
            <a:ext cx="530352" cy="530352"/>
          </a:xfrm>
          <a:prstGeom prst="ellipse">
            <a:avLst/>
          </a:prstGeom>
          <a:solidFill>
            <a:srgbClr val="7C5CFC">
              <a:alpha val="82000"/>
            </a:srgbClr>
          </a:solidFill>
          <a:ln w="1016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254496" y="12070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94576" y="12252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Expert Prompts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0" y="1719072"/>
            <a:ext cx="2505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button fires a precision prompt.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know how to prompt — BEBO does it for you.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2608" y="3090672"/>
            <a:ext cx="4160520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92608" y="3090672"/>
            <a:ext cx="4160520" cy="347472"/>
          </a:xfrm>
          <a:prstGeom prst="rect">
            <a:avLst/>
          </a:prstGeom>
          <a:solidFill>
            <a:srgbClr val="7C5CFC">
              <a:alpha val="88000"/>
            </a:srgbClr>
          </a:solidFill>
          <a:ln w="12700">
            <a:solidFill>
              <a:srgbClr val="7C5C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84048" y="309067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is better when...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0624" y="35112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need fast answers without switching windows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0624" y="3749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repeat the same AI tasks every day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20624" y="3986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You're fixing grammar, summarizing, drafting emails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" y="42245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want free AI with no daily message anxiety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090672"/>
            <a:ext cx="4187952" cy="1417320"/>
          </a:xfrm>
          <a:prstGeom prst="rect">
            <a:avLst/>
          </a:prstGeom>
          <a:solidFill>
            <a:srgbClr val="1C1D32"/>
          </a:solidFill>
          <a:ln w="6350">
            <a:solidFill>
              <a:srgbClr val="7C5CFC">
                <a:alpha val="42000"/>
              </a:srgbClr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663440" y="3090672"/>
            <a:ext cx="4187952" cy="347472"/>
          </a:xfrm>
          <a:prstGeom prst="rect">
            <a:avLst/>
          </a:prstGeom>
          <a:solidFill>
            <a:srgbClr val="94A3B8">
              <a:alpha val="48000"/>
            </a:srgbClr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773168" y="309067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ChatGPT / Claude when...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91456" y="35112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need deep reasoning or complex research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91456" y="3749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want to browse the web for live information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91456" y="39867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You're doing a long multi-turn conversation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91456" y="422452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You need image or file understanding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92608" y="4626864"/>
            <a:ext cx="8558784" cy="420624"/>
          </a:xfrm>
          <a:prstGeom prst="rect">
            <a:avLst/>
          </a:prstGeom>
          <a:solidFill>
            <a:srgbClr val="7C5CFC">
              <a:alpha val="32000"/>
            </a:srgbClr>
          </a:solidFill>
          <a:ln w="6350">
            <a:solidFill>
              <a:srgbClr val="7C5CFC">
                <a:alpha val="78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92608" y="4626864"/>
            <a:ext cx="8558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"ChatGPT is a Swiss Army knife. BEBO is the knife already in your hand."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92608" y="4892040"/>
            <a:ext cx="8558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BEBO is built on Electron + Node.js + Groq API  •  Free to run  •  Built by a student, for students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low"/>
          <p:cNvSpPr/>
          <p:nvPr/>
        </p:nvSpPr>
        <p:spPr>
          <a:xfrm>
            <a:off x="5486400" y="-457200"/>
            <a:ext cx="3657600" cy="3657600"/>
          </a:xfrm>
          <a:prstGeom prst="rect">
            <a:avLst/>
          </a:prstGeom>
          <a:solidFill>
            <a:srgbClr val="7C5CFC">
              <a:alpha val="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itle"/>
          <p:cNvSpPr txBox="1"/>
          <p:nvPr/>
        </p:nvSpPr>
        <p:spPr>
          <a:xfrm>
            <a:off x="457200" y="152400"/>
            <a:ext cx="8229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lang="en-US" sz="3200" b="1" dirty="0">
                <a:solidFill>
                  <a:srgbClr val="EEF2FF"/>
                </a:solidFill>
                <a:latin typeface="Calibri"/>
              </a:rPr>
              <a:t>BEBO is the Fastest AI Workflow — By Far</a:t>
            </a:r>
          </a:p>
        </p:txBody>
      </p:sp>
      <p:sp>
        <p:nvSpPr>
          <p:cNvPr id="13" name="LCard"/>
          <p:cNvSpPr/>
          <p:nvPr/>
        </p:nvSpPr>
        <p:spPr>
          <a:xfrm>
            <a:off x="411480" y="762000"/>
            <a:ext cx="3977640" cy="2286000"/>
          </a:xfrm>
          <a:prstGeom prst="rect">
            <a:avLst/>
          </a:prstGeom>
          <a:solidFill>
            <a:srgbClr val="16172A"/>
          </a:solidFill>
          <a:ln w="9525">
            <a:solidFill>
              <a:srgbClr val="2A2B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LHdr"/>
          <p:cNvSpPr txBox="1"/>
          <p:nvPr/>
        </p:nvSpPr>
        <p:spPr>
          <a:xfrm>
            <a:off x="457200" y="776000"/>
            <a:ext cx="38862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lang="en-US" sz="1600" b="1" dirty="0">
                <a:solidFill>
                  <a:srgbClr val="A78BFA"/>
                </a:solidFill>
                <a:latin typeface="Calibri"/>
              </a:rPr>
              <a:t>⚡ API Response Speed</a:t>
            </a:r>
          </a:p>
        </p:txBody>
      </p:sp>
      <p:graphicFrame>
        <p:nvGraphicFramePr>
          <p:cNvPr id="15" name="APITable"/>
          <p:cNvGraphicFramePr>
            <a:graphicFrameLocks noGrp="1"/>
          </p:cNvGraphicFramePr>
          <p:nvPr/>
        </p:nvGraphicFramePr>
        <p:xfrm>
          <a:off x="457200" y="1080000"/>
          <a:ext cx="3886200" cy="2076720"/>
        </p:xfrm>
        <a:graphic>
          <a:graphicData uri="http://schemas.openxmlformats.org/drawingml/2006/table">
            <a:tbl>
              <a:tblPr/>
              <a:tblGrid>
                <a:gridCol w="2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EEF2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E1F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EEF2FF"/>
                          </a:solidFill>
                          <a:latin typeface="Calibri"/>
                        </a:rPr>
                        <a:t>Tok/s</a:t>
                      </a:r>
                    </a:p>
                  </a:txBody>
                  <a:tcPr>
                    <a:solidFill>
                      <a:srgbClr val="1E1F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EEF2FF"/>
                          </a:solidFill>
                          <a:latin typeface="Calibri"/>
                        </a:rPr>
                        <a:t>200-tok task</a:t>
                      </a:r>
                    </a:p>
                  </a:txBody>
                  <a:tcPr>
                    <a:solidFill>
                      <a:srgbClr val="1E1F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A78BFA"/>
                          </a:solidFill>
                          <a:latin typeface="Calibri"/>
                        </a:rPr>
                        <a:t>BEBO  (Groq + Llama 3.3 70B)</a:t>
                      </a:r>
                    </a:p>
                  </a:txBody>
                  <a:tcPr>
                    <a:solidFill>
                      <a:srgbClr val="2D1B6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6EE7B7"/>
                          </a:solidFill>
                          <a:latin typeface="Calibri"/>
                        </a:rPr>
                        <a:t>800–1000</a:t>
                      </a:r>
                    </a:p>
                  </a:txBody>
                  <a:tcPr>
                    <a:solidFill>
                      <a:srgbClr val="2D1B6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6EE7B7"/>
                          </a:solidFill>
                          <a:latin typeface="Calibri"/>
                        </a:rPr>
                        <a:t>0.3–0.5s ★</a:t>
                      </a:r>
                    </a:p>
                  </a:txBody>
                  <a:tcPr>
                    <a:solidFill>
                      <a:srgbClr val="2D1B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Gemini 2.0 Flash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~200–300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0.8–1.2s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GPT-4o mini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~100–150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1.5–2.5s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Claude 3.5 Haiku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~100–150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1.5–2.5s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GPT-4o (limited free)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~80–100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2.0–3.0s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RCard"/>
          <p:cNvSpPr/>
          <p:nvPr/>
        </p:nvSpPr>
        <p:spPr>
          <a:xfrm>
            <a:off x="4754880" y="762000"/>
            <a:ext cx="3977640" cy="2286000"/>
          </a:xfrm>
          <a:prstGeom prst="rect">
            <a:avLst/>
          </a:prstGeom>
          <a:solidFill>
            <a:srgbClr val="16172A"/>
          </a:solidFill>
          <a:ln w="9525">
            <a:solidFill>
              <a:srgbClr val="2A2B4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Hdr"/>
          <p:cNvSpPr txBox="1"/>
          <p:nvPr/>
        </p:nvSpPr>
        <p:spPr>
          <a:xfrm>
            <a:off x="4800600" y="776000"/>
            <a:ext cx="38862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lang="en-US" sz="1600" b="1" dirty="0">
                <a:solidFill>
                  <a:srgbClr val="A78BFA"/>
                </a:solidFill>
                <a:latin typeface="Calibri"/>
              </a:rPr>
              <a:t>🖥  Full Workflow Speed (realistic)</a:t>
            </a:r>
          </a:p>
        </p:txBody>
      </p:sp>
      <p:graphicFrame>
        <p:nvGraphicFramePr>
          <p:cNvPr id="18" name="WFTable"/>
          <p:cNvGraphicFramePr>
            <a:graphicFrameLocks noGrp="1"/>
          </p:cNvGraphicFramePr>
          <p:nvPr/>
        </p:nvGraphicFramePr>
        <p:xfrm>
          <a:off x="4800600" y="1080000"/>
          <a:ext cx="3886200" cy="1950000"/>
        </p:xfrm>
        <a:graphic>
          <a:graphicData uri="http://schemas.openxmlformats.org/drawingml/2006/table">
            <a:tbl>
              <a:tblPr/>
              <a:tblGrid>
                <a:gridCol w="22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EEF2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E1F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EEF2FF"/>
                          </a:solidFill>
                          <a:latin typeface="Calibri"/>
                        </a:rPr>
                        <a:t>Total Time</a:t>
                      </a:r>
                    </a:p>
                  </a:txBody>
                  <a:tcPr>
                    <a:solidFill>
                      <a:srgbClr val="1E1F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A78BFA"/>
                          </a:solidFill>
                          <a:latin typeface="Calibri"/>
                        </a:rPr>
                        <a:t>BEBO</a:t>
                      </a:r>
                    </a:p>
                  </a:txBody>
                  <a:tcPr>
                    <a:solidFill>
                      <a:srgbClr val="2D1B6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6EE7B7"/>
                          </a:solidFill>
                          <a:latin typeface="Calibri"/>
                        </a:rPr>
                        <a:t>~3–4 sec ★</a:t>
                      </a:r>
                    </a:p>
                  </a:txBody>
                  <a:tcPr>
                    <a:solidFill>
                      <a:srgbClr val="2D1B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Gemini 2.0 Flash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~10–13 sec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ChatGPT (GPT-4o mini)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~11–14 sec</a:t>
                      </a:r>
                    </a:p>
                  </a:txBody>
                  <a:tcPr>
                    <a:solidFill>
                      <a:srgbClr val="1213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Claude (browser)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8B8FA8"/>
                          </a:solidFill>
                          <a:latin typeface="Calibri"/>
                        </a:rPr>
                        <a:t>~12–15 sec</a:t>
                      </a:r>
                    </a:p>
                  </a:txBody>
                  <a:tcPr>
                    <a:solidFill>
                      <a:srgbClr val="16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VL_bg"/>
          <p:cNvSpPr/>
          <p:nvPr/>
        </p:nvSpPr>
        <p:spPr>
          <a:xfrm>
            <a:off x="411480" y="3160000"/>
            <a:ext cx="3977640" cy="1560000"/>
          </a:xfrm>
          <a:prstGeom prst="rect">
            <a:avLst/>
          </a:prstGeom>
          <a:solidFill>
            <a:srgbClr val="065F46"/>
          </a:solidFill>
          <a:ln w="9525">
            <a:solidFill>
              <a:srgbClr val="065F4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VL"/>
          <p:cNvSpPr txBox="1"/>
          <p:nvPr/>
        </p:nvSpPr>
        <p:spPr>
          <a:xfrm>
            <a:off x="548640" y="3274300"/>
            <a:ext cx="3703320" cy="1331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lang="en-US" sz="1700" b="1" dirty="0">
                <a:solidFill>
                  <a:srgbClr val="6EE7B7"/>
                </a:solidFill>
                <a:latin typeface="Calibri"/>
              </a:rPr>
              <a:t>✅  BEBO Wins on Speed</a:t>
            </a:r>
          </a:p>
          <a:p>
            <a:pPr algn="l">
              <a:spcAft>
                <a:spcPts val="100"/>
              </a:spcAft>
            </a:pPr>
            <a:r>
              <a:rPr lang="en-US" sz="1200" dirty="0">
                <a:solidFill>
                  <a:srgbClr val="EEF2FF"/>
                </a:solidFill>
                <a:latin typeface="Calibri"/>
              </a:rPr>
              <a:t>Groq LPUs — no GPU can match it.</a:t>
            </a:r>
          </a:p>
          <a:p>
            <a:pPr algn="l">
              <a:spcAft>
                <a:spcPts val="100"/>
              </a:spcAft>
            </a:pPr>
            <a:r>
              <a:rPr lang="en-US" sz="1200" dirty="0">
                <a:solidFill>
                  <a:srgbClr val="EEF2FF"/>
                </a:solidFill>
                <a:latin typeface="Calibri"/>
              </a:rPr>
              <a:t>Gemini 2.0 Flash is closing the gap but</a:t>
            </a:r>
          </a:p>
          <a:p>
            <a:pPr algn="l">
              <a:spcAft>
                <a:spcPts val="100"/>
              </a:spcAft>
            </a:pPr>
            <a:r>
              <a:rPr lang="en-US" sz="1200" dirty="0">
                <a:solidFill>
                  <a:srgbClr val="EEF2FF"/>
                </a:solidFill>
                <a:latin typeface="Calibri"/>
              </a:rPr>
              <a:t>BEBO still 3–5× faster end-to-end.</a:t>
            </a:r>
          </a:p>
        </p:txBody>
      </p:sp>
      <p:sp>
        <p:nvSpPr>
          <p:cNvPr id="21" name="VR_bg"/>
          <p:cNvSpPr/>
          <p:nvPr/>
        </p:nvSpPr>
        <p:spPr>
          <a:xfrm>
            <a:off x="4754880" y="3160000"/>
            <a:ext cx="3977640" cy="1560000"/>
          </a:xfrm>
          <a:prstGeom prst="rect">
            <a:avLst/>
          </a:prstGeom>
          <a:solidFill>
            <a:srgbClr val="1F2937"/>
          </a:solidFill>
          <a:ln w="9525">
            <a:solidFill>
              <a:srgbClr val="37415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VR"/>
          <p:cNvSpPr txBox="1"/>
          <p:nvPr/>
        </p:nvSpPr>
        <p:spPr>
          <a:xfrm>
            <a:off x="4892040" y="3274300"/>
            <a:ext cx="3703320" cy="13314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>
              <a:spcAft>
                <a:spcPts val="100"/>
              </a:spcAft>
            </a:pPr>
            <a:r>
              <a:rPr lang="en-US" sz="1700" b="1" dirty="0">
                <a:solidFill>
                  <a:srgbClr val="9CA3AF"/>
                </a:solidFill>
                <a:latin typeface="Calibri"/>
              </a:rPr>
              <a:t>❌  Others Win</a:t>
            </a:r>
          </a:p>
          <a:p>
            <a:pPr algn="l">
              <a:spcAft>
                <a:spcPts val="100"/>
              </a:spcAft>
            </a:pPr>
            <a:r>
              <a:rPr lang="en-US" sz="1200" dirty="0">
                <a:solidFill>
                  <a:srgbClr val="EEF2FF"/>
                </a:solidFill>
                <a:latin typeface="Calibri"/>
              </a:rPr>
              <a:t>Complex reasoning, coding,</a:t>
            </a:r>
          </a:p>
          <a:p>
            <a:pPr algn="l">
              <a:spcAft>
                <a:spcPts val="100"/>
              </a:spcAft>
            </a:pPr>
            <a:r>
              <a:rPr lang="en-US" sz="1200" dirty="0">
                <a:solidFill>
                  <a:srgbClr val="EEF2FF"/>
                </a:solidFill>
                <a:latin typeface="Calibri"/>
              </a:rPr>
              <a:t>image understanding, memory,</a:t>
            </a:r>
          </a:p>
          <a:p>
            <a:pPr algn="l">
              <a:spcAft>
                <a:spcPts val="100"/>
              </a:spcAft>
            </a:pPr>
            <a:r>
              <a:rPr lang="en-US" sz="1200" dirty="0">
                <a:solidFill>
                  <a:srgbClr val="EEF2FF"/>
                </a:solidFill>
                <a:latin typeface="Calibri"/>
              </a:rPr>
              <a:t>long documents, real-time data.</a:t>
            </a:r>
          </a:p>
        </p:txBody>
      </p:sp>
      <p:sp>
        <p:nvSpPr>
          <p:cNvPr id="23" name="Source"/>
          <p:cNvSpPr txBox="1"/>
          <p:nvPr/>
        </p:nvSpPr>
        <p:spPr>
          <a:xfrm>
            <a:off x="457200" y="489000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lang="en-US" sz="900" dirty="0">
                <a:solidFill>
                  <a:srgbClr val="8B8FA8"/>
                </a:solidFill>
                <a:latin typeface="Calibri"/>
              </a:rPr>
              <a:t>Source: Groq published benchmarks · measured workflow timing (browser already open)</a:t>
            </a:r>
          </a:p>
        </p:txBody>
      </p:sp>
    </p:spTree>
    <p:extLst>
      <p:ext uri="{BB962C8B-B14F-4D97-AF65-F5344CB8AC3E}">
        <p14:creationId xmlns:p14="http://schemas.microsoft.com/office/powerpoint/2010/main" val="3983155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AF0E180-290A-445B-B9EF-06B6EE56E9FA}">
  <we:reference id="wa200010001" version="1.0.0.1" store="en-GB" storeType="OMEX"/>
  <we:alternateReferences>
    <we:reference id="wa200010001" version="1.0.0.1" store="" storeType="OMEX"/>
  </we:alternateReferences>
  <we:properties>
    <we:property name="claude.fileId" value="&quot;ba0ea580-21ff-4c13-ac73-d8941c0a11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1814</Words>
  <Application>Microsoft Office PowerPoint</Application>
  <PresentationFormat>On-screen Show (16:9)</PresentationFormat>
  <Paragraphs>411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BEBO the PET — AI Desktop Companion</dc:title>
  <dc:subject>PptxGenJS Presentation</dc:subject>
  <dc:creator>Bhavik Thakkar</dc:creator>
  <cp:lastModifiedBy>BHAVIK THAKKAR</cp:lastModifiedBy>
  <cp:revision>6</cp:revision>
  <dcterms:created xsi:type="dcterms:W3CDTF">2026-05-26T04:28:20Z</dcterms:created>
  <dcterms:modified xsi:type="dcterms:W3CDTF">2026-05-26T11:47:47Z</dcterms:modified>
</cp:coreProperties>
</file>